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sldIdLst>
    <p:sldId id="256" r:id="rId2"/>
    <p:sldId id="272" r:id="rId3"/>
    <p:sldId id="315" r:id="rId4"/>
    <p:sldId id="318" r:id="rId5"/>
    <p:sldId id="319" r:id="rId6"/>
    <p:sldId id="316" r:id="rId7"/>
    <p:sldId id="321" r:id="rId8"/>
    <p:sldId id="322" r:id="rId9"/>
    <p:sldId id="325" r:id="rId10"/>
    <p:sldId id="32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884B"/>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91"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6/9/2026</a:t>
            </a:fld>
            <a:endParaRPr lang="en-US"/>
          </a:p>
        </p:txBody>
      </p:sp>
      <p:sp>
        <p:nvSpPr>
          <p:cNvPr id="6" name="Footer Placeholder 5"/>
          <p:cNvSpPr>
            <a:spLocks noGrp="1"/>
          </p:cNvSpPr>
          <p:nvPr>
            <p:ph type="ftr" sz="quarter" idx="11"/>
          </p:nvPr>
        </p:nvSpPr>
        <p:spPr/>
        <p:txBody>
          <a:bodyPr/>
          <a:lstStyle/>
          <a:p>
            <a:r>
              <a:rPr lang="en-US"/>
              <a:t>Data Integration and Warehousing Assessment - FOUOTSOP FOSSO  PATRICK</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6/9/2026</a:t>
            </a:fld>
            <a:endParaRPr lang="en-US"/>
          </a:p>
        </p:txBody>
      </p:sp>
      <p:sp>
        <p:nvSpPr>
          <p:cNvPr id="8" name="Footer Placeholder 7"/>
          <p:cNvSpPr>
            <a:spLocks noGrp="1"/>
          </p:cNvSpPr>
          <p:nvPr>
            <p:ph type="ftr" sz="quarter" idx="11"/>
          </p:nvPr>
        </p:nvSpPr>
        <p:spPr/>
        <p:txBody>
          <a:bodyPr/>
          <a:lstStyle/>
          <a:p>
            <a:r>
              <a:rPr lang="en-US"/>
              <a:t>Data Integration and Warehousing Assessment - FOUOTSOP FOSSO  PATRICK</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6/9/2026</a:t>
            </a:fld>
            <a:endParaRPr lang="en-US"/>
          </a:p>
        </p:txBody>
      </p:sp>
      <p:sp>
        <p:nvSpPr>
          <p:cNvPr id="4" name="Footer Placeholder 3"/>
          <p:cNvSpPr>
            <a:spLocks noGrp="1"/>
          </p:cNvSpPr>
          <p:nvPr>
            <p:ph type="ftr" sz="quarter" idx="11"/>
          </p:nvPr>
        </p:nvSpPr>
        <p:spPr/>
        <p:txBody>
          <a:bodyPr/>
          <a:lstStyle/>
          <a:p>
            <a:r>
              <a:rPr lang="en-US"/>
              <a:t>Data Integration and Warehousing Assessment - FOUOTSOP FOSSO  PATRICK</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6/9/2026</a:t>
            </a:fld>
            <a:endParaRPr lang="en-US"/>
          </a:p>
        </p:txBody>
      </p:sp>
      <p:sp>
        <p:nvSpPr>
          <p:cNvPr id="3" name="Footer Placeholder 2"/>
          <p:cNvSpPr>
            <a:spLocks noGrp="1"/>
          </p:cNvSpPr>
          <p:nvPr>
            <p:ph type="ftr" sz="quarter" idx="11"/>
          </p:nvPr>
        </p:nvSpPr>
        <p:spPr/>
        <p:txBody>
          <a:bodyPr/>
          <a:lstStyle/>
          <a:p>
            <a:r>
              <a:rPr lang="en-US"/>
              <a:t>Data Integration and Warehousing Assessment - FOUOTSOP FOSSO  PATRICK</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6/9/2026</a:t>
            </a:fld>
            <a:endParaRPr lang="en-US"/>
          </a:p>
        </p:txBody>
      </p:sp>
      <p:sp>
        <p:nvSpPr>
          <p:cNvPr id="6" name="Footer Placeholder 5"/>
          <p:cNvSpPr>
            <a:spLocks noGrp="1"/>
          </p:cNvSpPr>
          <p:nvPr>
            <p:ph type="ftr" sz="quarter" idx="11"/>
          </p:nvPr>
        </p:nvSpPr>
        <p:spPr/>
        <p:txBody>
          <a:bodyPr/>
          <a:lstStyle/>
          <a:p>
            <a:r>
              <a:rPr lang="en-US"/>
              <a:t>Data Integration and Warehousing Assessment - FOUOTSOP FOSSO  PATRICK</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6/9/2026</a:t>
            </a:fld>
            <a:endParaRPr lang="en-US"/>
          </a:p>
        </p:txBody>
      </p:sp>
      <p:sp>
        <p:nvSpPr>
          <p:cNvPr id="6" name="Footer Placeholder 5"/>
          <p:cNvSpPr>
            <a:spLocks noGrp="1"/>
          </p:cNvSpPr>
          <p:nvPr>
            <p:ph type="ftr" sz="quarter" idx="11"/>
          </p:nvPr>
        </p:nvSpPr>
        <p:spPr/>
        <p:txBody>
          <a:bodyPr/>
          <a:lstStyle/>
          <a:p>
            <a:r>
              <a:rPr lang="en-US"/>
              <a:t>Data Integration and Warehousing Assessment - FOUOTSOP FOSSO  PATRICK</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Data Integration and Warehousing Assessment - FOUOTSOP FOSSO  PATRICK</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patrickfosso49@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838" y="983848"/>
            <a:ext cx="12057099" cy="2091076"/>
          </a:xfrm>
        </p:spPr>
        <p:txBody>
          <a:bodyPr>
            <a:noAutofit/>
          </a:bodyPr>
          <a:lstStyle/>
          <a:p>
            <a:r>
              <a:rPr lang="en-CM" sz="4800" dirty="0"/>
              <a:t>A BI‑Driven Approach</a:t>
            </a:r>
            <a:r>
              <a:rPr lang="en-US" sz="4800" dirty="0"/>
              <a:t> to propose </a:t>
            </a:r>
            <a:r>
              <a:rPr lang="en-CM" sz="4800" dirty="0"/>
              <a:t>Sustainable Crop Management Strategies</a:t>
            </a:r>
            <a:r>
              <a:rPr lang="en-US" sz="4800" dirty="0"/>
              <a:t>: Case Study of the FAOSTAT Emissions intensities dataset</a:t>
            </a:r>
          </a:p>
        </p:txBody>
      </p:sp>
      <p:sp>
        <p:nvSpPr>
          <p:cNvPr id="3" name="Subtitle 2"/>
          <p:cNvSpPr>
            <a:spLocks noGrp="1"/>
          </p:cNvSpPr>
          <p:nvPr>
            <p:ph type="subTitle" idx="1"/>
          </p:nvPr>
        </p:nvSpPr>
        <p:spPr>
          <a:xfrm>
            <a:off x="1524000" y="3500028"/>
            <a:ext cx="9144000" cy="548706"/>
          </a:xfrm>
        </p:spPr>
        <p:txBody>
          <a:bodyPr vert="horz" lIns="91440" tIns="45720" rIns="91440" bIns="45720" rtlCol="0" anchor="t">
            <a:normAutofit/>
          </a:bodyPr>
          <a:lstStyle/>
          <a:p>
            <a:r>
              <a:rPr lang="en-US" dirty="0"/>
              <a:t>June 2026</a:t>
            </a:r>
          </a:p>
        </p:txBody>
      </p:sp>
      <p:sp>
        <p:nvSpPr>
          <p:cNvPr id="6" name="TextBox 5">
            <a:extLst>
              <a:ext uri="{FF2B5EF4-FFF2-40B4-BE49-F238E27FC236}">
                <a16:creationId xmlns:a16="http://schemas.microsoft.com/office/drawing/2014/main" id="{C6973E03-8FA4-0A4B-F2A9-5D73EE466237}"/>
              </a:ext>
            </a:extLst>
          </p:cNvPr>
          <p:cNvSpPr txBox="1"/>
          <p:nvPr/>
        </p:nvSpPr>
        <p:spPr>
          <a:xfrm>
            <a:off x="1949402" y="4516851"/>
            <a:ext cx="863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FOUOTSOP FOSSO PATRICK</a:t>
            </a:r>
          </a:p>
        </p:txBody>
      </p:sp>
      <p:sp>
        <p:nvSpPr>
          <p:cNvPr id="7" name="TextBox 6">
            <a:extLst>
              <a:ext uri="{FF2B5EF4-FFF2-40B4-BE49-F238E27FC236}">
                <a16:creationId xmlns:a16="http://schemas.microsoft.com/office/drawing/2014/main" id="{CB296787-66B2-11A1-4ADF-7672C484719D}"/>
              </a:ext>
            </a:extLst>
          </p:cNvPr>
          <p:cNvSpPr txBox="1"/>
          <p:nvPr/>
        </p:nvSpPr>
        <p:spPr>
          <a:xfrm>
            <a:off x="1977192" y="5150815"/>
            <a:ext cx="856915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A884B"/>
                </a:solidFill>
                <a:hlinkClick r:id="rId2">
                  <a:extLst>
                    <a:ext uri="{A12FA001-AC4F-418D-AE19-62706E023703}">
                      <ahyp:hlinkClr xmlns:ahyp="http://schemas.microsoft.com/office/drawing/2018/hyperlinkcolor" val="tx"/>
                    </a:ext>
                  </a:extLst>
                </a:hlinkClick>
              </a:rPr>
              <a:t>patrickfosso49@gmail.com</a:t>
            </a:r>
            <a:endParaRPr lang="en-US" dirty="0">
              <a:solidFill>
                <a:srgbClr val="FA884B"/>
              </a:solidFill>
            </a:endParaRPr>
          </a:p>
        </p:txBody>
      </p:sp>
      <p:sp>
        <p:nvSpPr>
          <p:cNvPr id="8" name="Rectangle 7">
            <a:extLst>
              <a:ext uri="{FF2B5EF4-FFF2-40B4-BE49-F238E27FC236}">
                <a16:creationId xmlns:a16="http://schemas.microsoft.com/office/drawing/2014/main" id="{B8AC893B-9318-FBA8-A014-301B0F4D8CEA}"/>
              </a:ext>
            </a:extLst>
          </p:cNvPr>
          <p:cNvSpPr/>
          <p:nvPr/>
        </p:nvSpPr>
        <p:spPr>
          <a:xfrm>
            <a:off x="1979048" y="1815"/>
            <a:ext cx="10213959" cy="624129"/>
          </a:xfrm>
          <a:prstGeom prst="rect">
            <a:avLst/>
          </a:prstGeom>
          <a:solidFill>
            <a:srgbClr val="FA88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7DDA15B-C03D-6017-A008-D5B9B4E6D70E}"/>
              </a:ext>
            </a:extLst>
          </p:cNvPr>
          <p:cNvSpPr/>
          <p:nvPr/>
        </p:nvSpPr>
        <p:spPr>
          <a:xfrm>
            <a:off x="0" y="6254151"/>
            <a:ext cx="12191999" cy="603848"/>
          </a:xfrm>
          <a:prstGeom prst="rect">
            <a:avLst/>
          </a:prstGeom>
          <a:solidFill>
            <a:srgbClr val="FA88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logo for a company&#10;&#10;Description automatically generated">
            <a:extLst>
              <a:ext uri="{FF2B5EF4-FFF2-40B4-BE49-F238E27FC236}">
                <a16:creationId xmlns:a16="http://schemas.microsoft.com/office/drawing/2014/main" id="{1E55C7C4-E2FD-BF9B-CF72-D1DE2022A140}"/>
              </a:ext>
            </a:extLst>
          </p:cNvPr>
          <p:cNvPicPr>
            <a:picLocks noChangeAspect="1"/>
          </p:cNvPicPr>
          <p:nvPr/>
        </p:nvPicPr>
        <p:blipFill>
          <a:blip r:embed="rId3"/>
          <a:srcRect l="-49" t="-323" r="-528" b="-1762"/>
          <a:stretch/>
        </p:blipFill>
        <p:spPr>
          <a:xfrm>
            <a:off x="74555" y="6719"/>
            <a:ext cx="1906695" cy="624721"/>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7669-CFB0-AEC4-65FC-64D8845742AB}"/>
              </a:ext>
            </a:extLst>
          </p:cNvPr>
          <p:cNvSpPr>
            <a:spLocks noGrp="1"/>
          </p:cNvSpPr>
          <p:nvPr>
            <p:ph type="title"/>
          </p:nvPr>
        </p:nvSpPr>
        <p:spPr>
          <a:xfrm>
            <a:off x="838200" y="2478768"/>
            <a:ext cx="10515600" cy="1906134"/>
          </a:xfrm>
        </p:spPr>
        <p:txBody>
          <a:bodyPr>
            <a:normAutofit/>
          </a:bodyPr>
          <a:lstStyle/>
          <a:p>
            <a:pPr algn="ctr"/>
            <a:r>
              <a:rPr lang="en-US" sz="5400" b="1" dirty="0"/>
              <a:t>CONTEXT</a:t>
            </a:r>
          </a:p>
        </p:txBody>
      </p:sp>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p:txBody>
          <a:bodyPr/>
          <a:lstStyle/>
          <a:p>
            <a:r>
              <a:rPr lang="en-US"/>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2</a:t>
            </a:fld>
            <a:endParaRPr lang="en-US"/>
          </a:p>
        </p:txBody>
      </p:sp>
    </p:spTree>
    <p:extLst>
      <p:ext uri="{BB962C8B-B14F-4D97-AF65-F5344CB8AC3E}">
        <p14:creationId xmlns:p14="http://schemas.microsoft.com/office/powerpoint/2010/main" val="3538989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a:xfrm>
            <a:off x="709386" y="6356350"/>
            <a:ext cx="5112657" cy="365125"/>
          </a:xfrm>
        </p:spPr>
        <p:txBody>
          <a:bodyPr/>
          <a:lstStyle/>
          <a:p>
            <a:r>
              <a:rPr lang="en-US">
                <a:solidFill>
                  <a:srgbClr val="FA884B"/>
                </a:solidFill>
              </a:rPr>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3</a:t>
            </a:fld>
            <a:endParaRPr lang="en-US"/>
          </a:p>
        </p:txBody>
      </p:sp>
      <p:sp>
        <p:nvSpPr>
          <p:cNvPr id="7" name="TextBox 6">
            <a:extLst>
              <a:ext uri="{FF2B5EF4-FFF2-40B4-BE49-F238E27FC236}">
                <a16:creationId xmlns:a16="http://schemas.microsoft.com/office/drawing/2014/main" id="{F176FFB8-B857-45A3-48EA-7BDD35C3B46B}"/>
              </a:ext>
            </a:extLst>
          </p:cNvPr>
          <p:cNvSpPr txBox="1"/>
          <p:nvPr/>
        </p:nvSpPr>
        <p:spPr>
          <a:xfrm>
            <a:off x="675873" y="199423"/>
            <a:ext cx="10847760" cy="39081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800" dirty="0"/>
              <a:t>The FAOSTAT domain on Emissions intensities contains analytical data on the intensity of greenhouse gas (GHG) emissions by agricultural commodity. This indicator is defined as greenhouse gas emissions per kg of product. Data are available for a set of agricultural commodities (e.g. rice and other cereals, meat, milk, eggs), by country, with global coverage and relative to the period 1961–2023.</a:t>
            </a:r>
          </a:p>
        </p:txBody>
      </p:sp>
    </p:spTree>
    <p:extLst>
      <p:ext uri="{BB962C8B-B14F-4D97-AF65-F5344CB8AC3E}">
        <p14:creationId xmlns:p14="http://schemas.microsoft.com/office/powerpoint/2010/main" val="3013083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7669-CFB0-AEC4-65FC-64D8845742AB}"/>
              </a:ext>
            </a:extLst>
          </p:cNvPr>
          <p:cNvSpPr>
            <a:spLocks noGrp="1"/>
          </p:cNvSpPr>
          <p:nvPr>
            <p:ph type="title"/>
          </p:nvPr>
        </p:nvSpPr>
        <p:spPr>
          <a:xfrm>
            <a:off x="838200" y="2478768"/>
            <a:ext cx="10515600" cy="1906134"/>
          </a:xfrm>
        </p:spPr>
        <p:txBody>
          <a:bodyPr>
            <a:normAutofit/>
          </a:bodyPr>
          <a:lstStyle/>
          <a:p>
            <a:pPr algn="ctr"/>
            <a:r>
              <a:rPr lang="en-US" sz="5400" b="1" dirty="0"/>
              <a:t>Objectives</a:t>
            </a:r>
            <a:endParaRPr lang="en-US" dirty="0"/>
          </a:p>
        </p:txBody>
      </p:sp>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p:txBody>
          <a:bodyPr/>
          <a:lstStyle/>
          <a:p>
            <a:r>
              <a:rPr lang="en-US"/>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2773677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a:xfrm>
            <a:off x="709386" y="6356350"/>
            <a:ext cx="5112657" cy="365125"/>
          </a:xfrm>
        </p:spPr>
        <p:txBody>
          <a:bodyPr/>
          <a:lstStyle/>
          <a:p>
            <a:r>
              <a:rPr lang="en-US">
                <a:solidFill>
                  <a:srgbClr val="FA884B"/>
                </a:solidFill>
              </a:rPr>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5</a:t>
            </a:fld>
            <a:endParaRPr lang="en-US"/>
          </a:p>
        </p:txBody>
      </p:sp>
      <p:sp>
        <p:nvSpPr>
          <p:cNvPr id="7" name="TextBox 6">
            <a:extLst>
              <a:ext uri="{FF2B5EF4-FFF2-40B4-BE49-F238E27FC236}">
                <a16:creationId xmlns:a16="http://schemas.microsoft.com/office/drawing/2014/main" id="{F176FFB8-B857-45A3-48EA-7BDD35C3B46B}"/>
              </a:ext>
            </a:extLst>
          </p:cNvPr>
          <p:cNvSpPr txBox="1"/>
          <p:nvPr/>
        </p:nvSpPr>
        <p:spPr>
          <a:xfrm>
            <a:off x="504423" y="285148"/>
            <a:ext cx="11428785" cy="45545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800" dirty="0"/>
              <a:t>The objective of this study is to :</a:t>
            </a:r>
          </a:p>
          <a:p>
            <a:pPr marL="457200" indent="-457200">
              <a:lnSpc>
                <a:spcPct val="150000"/>
              </a:lnSpc>
              <a:buFont typeface="Arial"/>
              <a:buChar char="•"/>
            </a:pPr>
            <a:r>
              <a:rPr lang="en-US" sz="2800" dirty="0">
                <a:ea typeface="+mn-lt"/>
                <a:cs typeface="+mn-lt"/>
              </a:rPr>
              <a:t>Analyze production, emissions, and intensity trends for agricultural items (1961–2023).</a:t>
            </a:r>
          </a:p>
          <a:p>
            <a:pPr marL="457200" indent="-457200">
              <a:lnSpc>
                <a:spcPct val="150000"/>
              </a:lnSpc>
              <a:buFont typeface="Arial"/>
              <a:buChar char="•"/>
            </a:pPr>
            <a:r>
              <a:rPr lang="en-US" sz="2800" dirty="0">
                <a:ea typeface="+mn-lt"/>
                <a:cs typeface="+mn-lt"/>
              </a:rPr>
              <a:t>Translate findings into management strategies for policymakers, NGOs, or farmers.</a:t>
            </a:r>
          </a:p>
          <a:p>
            <a:pPr marL="457200" indent="-457200">
              <a:lnSpc>
                <a:spcPct val="150000"/>
              </a:lnSpc>
              <a:buFont typeface="Arial"/>
              <a:buChar char="•"/>
            </a:pPr>
            <a:r>
              <a:rPr lang="en-US" sz="2800" dirty="0">
                <a:ea typeface="+mn-lt"/>
                <a:cs typeface="+mn-lt"/>
              </a:rPr>
              <a:t>Propose data‑driven recommendations to balance food security with environmental sustainability.</a:t>
            </a:r>
            <a:endParaRPr lang="en-US" sz="2800" dirty="0"/>
          </a:p>
        </p:txBody>
      </p:sp>
    </p:spTree>
    <p:extLst>
      <p:ext uri="{BB962C8B-B14F-4D97-AF65-F5344CB8AC3E}">
        <p14:creationId xmlns:p14="http://schemas.microsoft.com/office/powerpoint/2010/main" val="850829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7669-CFB0-AEC4-65FC-64D8845742AB}"/>
              </a:ext>
            </a:extLst>
          </p:cNvPr>
          <p:cNvSpPr>
            <a:spLocks noGrp="1"/>
          </p:cNvSpPr>
          <p:nvPr>
            <p:ph type="title"/>
          </p:nvPr>
        </p:nvSpPr>
        <p:spPr>
          <a:xfrm>
            <a:off x="838200" y="2478768"/>
            <a:ext cx="10515600" cy="1906134"/>
          </a:xfrm>
        </p:spPr>
        <p:txBody>
          <a:bodyPr>
            <a:normAutofit/>
          </a:bodyPr>
          <a:lstStyle/>
          <a:p>
            <a:pPr algn="ctr"/>
            <a:r>
              <a:rPr lang="en-US" sz="5400" b="1" dirty="0"/>
              <a:t>Technical Requirements</a:t>
            </a:r>
          </a:p>
        </p:txBody>
      </p:sp>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p:txBody>
          <a:bodyPr/>
          <a:lstStyle/>
          <a:p>
            <a:r>
              <a:rPr lang="en-US"/>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1515572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a:xfrm>
            <a:off x="709386" y="6356350"/>
            <a:ext cx="5112657" cy="365125"/>
          </a:xfrm>
        </p:spPr>
        <p:txBody>
          <a:bodyPr/>
          <a:lstStyle/>
          <a:p>
            <a:r>
              <a:rPr lang="en-US">
                <a:solidFill>
                  <a:srgbClr val="FA884B"/>
                </a:solidFill>
              </a:rPr>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7" name="TextBox 6">
            <a:extLst>
              <a:ext uri="{FF2B5EF4-FFF2-40B4-BE49-F238E27FC236}">
                <a16:creationId xmlns:a16="http://schemas.microsoft.com/office/drawing/2014/main" id="{F176FFB8-B857-45A3-48EA-7BDD35C3B46B}"/>
              </a:ext>
            </a:extLst>
          </p:cNvPr>
          <p:cNvSpPr txBox="1"/>
          <p:nvPr/>
        </p:nvSpPr>
        <p:spPr>
          <a:xfrm>
            <a:off x="856848" y="2113948"/>
            <a:ext cx="10847760" cy="39081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Font typeface="Arial" panose="020B0604020202020204" pitchFamily="34" charset="0"/>
              <a:buChar char="•"/>
            </a:pPr>
            <a:r>
              <a:rPr lang="en-US" sz="2800" dirty="0"/>
              <a:t>Perform data preparation, clean the data and manage any inconsistencies and missing values</a:t>
            </a:r>
          </a:p>
          <a:p>
            <a:pPr marL="457200" indent="-457200">
              <a:lnSpc>
                <a:spcPct val="150000"/>
              </a:lnSpc>
              <a:buFont typeface="Arial" panose="020B0604020202020204" pitchFamily="34" charset="0"/>
              <a:buChar char="•"/>
            </a:pPr>
            <a:r>
              <a:rPr lang="en-US" sz="2800" dirty="0"/>
              <a:t>Propose and implement star schema data warehouse model for your data</a:t>
            </a:r>
          </a:p>
          <a:p>
            <a:pPr marL="457200" indent="-457200">
              <a:lnSpc>
                <a:spcPct val="150000"/>
              </a:lnSpc>
              <a:buFont typeface="Arial" panose="020B0604020202020204" pitchFamily="34" charset="0"/>
              <a:buChar char="•"/>
            </a:pPr>
            <a:r>
              <a:rPr lang="en-US" sz="2800" dirty="0"/>
              <a:t>Analyze the data and use visuals to present and interpret the results</a:t>
            </a:r>
          </a:p>
        </p:txBody>
      </p:sp>
    </p:spTree>
    <p:extLst>
      <p:ext uri="{BB962C8B-B14F-4D97-AF65-F5344CB8AC3E}">
        <p14:creationId xmlns:p14="http://schemas.microsoft.com/office/powerpoint/2010/main" val="1100964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7669-CFB0-AEC4-65FC-64D8845742AB}"/>
              </a:ext>
            </a:extLst>
          </p:cNvPr>
          <p:cNvSpPr>
            <a:spLocks noGrp="1"/>
          </p:cNvSpPr>
          <p:nvPr>
            <p:ph type="title"/>
          </p:nvPr>
        </p:nvSpPr>
        <p:spPr>
          <a:xfrm>
            <a:off x="838200" y="2478768"/>
            <a:ext cx="10515600" cy="1906134"/>
          </a:xfrm>
        </p:spPr>
        <p:txBody>
          <a:bodyPr>
            <a:normAutofit/>
          </a:bodyPr>
          <a:lstStyle/>
          <a:p>
            <a:pPr algn="ctr"/>
            <a:r>
              <a:rPr lang="en-US" sz="5400" b="1" dirty="0"/>
              <a:t>Resources</a:t>
            </a:r>
            <a:endParaRPr lang="en-US" dirty="0"/>
          </a:p>
        </p:txBody>
      </p:sp>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p:txBody>
          <a:bodyPr/>
          <a:lstStyle/>
          <a:p>
            <a:r>
              <a:rPr lang="en-US"/>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8</a:t>
            </a:fld>
            <a:endParaRPr lang="en-US"/>
          </a:p>
        </p:txBody>
      </p:sp>
    </p:spTree>
    <p:extLst>
      <p:ext uri="{BB962C8B-B14F-4D97-AF65-F5344CB8AC3E}">
        <p14:creationId xmlns:p14="http://schemas.microsoft.com/office/powerpoint/2010/main" val="1634018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a:xfrm>
            <a:off x="709386" y="6356350"/>
            <a:ext cx="5112657" cy="365125"/>
          </a:xfrm>
        </p:spPr>
        <p:txBody>
          <a:bodyPr/>
          <a:lstStyle/>
          <a:p>
            <a:r>
              <a:rPr lang="en-US">
                <a:solidFill>
                  <a:srgbClr val="FA884B"/>
                </a:solidFill>
              </a:rPr>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9</a:t>
            </a:fld>
            <a:endParaRPr lang="en-US"/>
          </a:p>
        </p:txBody>
      </p:sp>
      <p:sp>
        <p:nvSpPr>
          <p:cNvPr id="7" name="TextBox 6">
            <a:extLst>
              <a:ext uri="{FF2B5EF4-FFF2-40B4-BE49-F238E27FC236}">
                <a16:creationId xmlns:a16="http://schemas.microsoft.com/office/drawing/2014/main" id="{F176FFB8-B857-45A3-48EA-7BDD35C3B46B}"/>
              </a:ext>
            </a:extLst>
          </p:cNvPr>
          <p:cNvSpPr txBox="1"/>
          <p:nvPr/>
        </p:nvSpPr>
        <p:spPr>
          <a:xfrm>
            <a:off x="856848" y="2113948"/>
            <a:ext cx="10847760" cy="6765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800" dirty="0"/>
              <a:t>The dataset is available at : </a:t>
            </a:r>
            <a:r>
              <a:rPr lang="en-US" sz="2800" dirty="0">
                <a:solidFill>
                  <a:schemeClr val="accent2">
                    <a:lumMod val="75000"/>
                  </a:schemeClr>
                </a:solidFill>
              </a:rPr>
              <a:t>https://www.fao.org/faostat/en/#data/EI</a:t>
            </a:r>
          </a:p>
        </p:txBody>
      </p:sp>
    </p:spTree>
    <p:extLst>
      <p:ext uri="{BB962C8B-B14F-4D97-AF65-F5344CB8AC3E}">
        <p14:creationId xmlns:p14="http://schemas.microsoft.com/office/powerpoint/2010/main" val="620602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7669-CFB0-AEC4-65FC-64D8845742AB}"/>
              </a:ext>
            </a:extLst>
          </p:cNvPr>
          <p:cNvSpPr>
            <a:spLocks noGrp="1"/>
          </p:cNvSpPr>
          <p:nvPr>
            <p:ph type="title"/>
          </p:nvPr>
        </p:nvSpPr>
        <p:spPr>
          <a:xfrm>
            <a:off x="838200" y="2478768"/>
            <a:ext cx="10515600" cy="1906134"/>
          </a:xfrm>
        </p:spPr>
        <p:txBody>
          <a:bodyPr>
            <a:normAutofit/>
          </a:bodyPr>
          <a:lstStyle/>
          <a:p>
            <a:pPr algn="ctr"/>
            <a:r>
              <a:rPr lang="en-US" sz="5400" b="1"/>
              <a:t>GOOD LUCK</a:t>
            </a:r>
          </a:p>
        </p:txBody>
      </p:sp>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p:txBody>
          <a:bodyPr/>
          <a:lstStyle/>
          <a:p>
            <a:r>
              <a:rPr lang="en-US"/>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10</a:t>
            </a:fld>
            <a:endParaRPr lang="en-US"/>
          </a:p>
        </p:txBody>
      </p:sp>
    </p:spTree>
    <p:extLst>
      <p:ext uri="{BB962C8B-B14F-4D97-AF65-F5344CB8AC3E}">
        <p14:creationId xmlns:p14="http://schemas.microsoft.com/office/powerpoint/2010/main" val="848267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307</Words>
  <Application>Microsoft Office PowerPoint</Application>
  <PresentationFormat>Widescreen</PresentationFormat>
  <Paragraphs>36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A BI‑Driven Approach to propose Sustainable Crop Management Strategies: Case Study of the FAOSTAT Emissions intensities dataset</vt:lpstr>
      <vt:lpstr>CONTEXT</vt:lpstr>
      <vt:lpstr>PowerPoint Presentation</vt:lpstr>
      <vt:lpstr>Objectives</vt:lpstr>
      <vt:lpstr>PowerPoint Presentation</vt:lpstr>
      <vt:lpstr>Technical Requirements</vt:lpstr>
      <vt:lpstr>PowerPoint Presentation</vt:lpstr>
      <vt:lpstr>Resources</vt:lpstr>
      <vt:lpstr>PowerPoint Presentation</vt:lpstr>
      <vt:lpstr>GOOD LUCK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patrick fouotsop fosso</dc:creator>
  <cp:lastModifiedBy>patrick fouotsop fosso</cp:lastModifiedBy>
  <cp:revision>841</cp:revision>
  <dcterms:created xsi:type="dcterms:W3CDTF">2024-10-03T00:17:11Z</dcterms:created>
  <dcterms:modified xsi:type="dcterms:W3CDTF">2026-06-09T13:54:30Z</dcterms:modified>
</cp:coreProperties>
</file>