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sldIdLst>
    <p:sldId id="256" r:id="rId3"/>
    <p:sldId id="326" r:id="rId4"/>
    <p:sldId id="304" r:id="rId5"/>
    <p:sldId id="307" r:id="rId6"/>
    <p:sldId id="301" r:id="rId7"/>
    <p:sldId id="306" r:id="rId8"/>
    <p:sldId id="302" r:id="rId9"/>
    <p:sldId id="322" r:id="rId10"/>
    <p:sldId id="325" r:id="rId11"/>
    <p:sldId id="32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884B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51B6025-BD3B-4F60-AF55-76D0435C51F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0944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5C7FD21-836B-4760-A11D-B28FF9B72DB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96170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0E6805A-8396-428A-9203-86686067FE4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0440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FE4F24B-127C-48E9-AAA3-ED557BC532C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720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EFC5F7B-12A7-4BA5-B4E8-F47CBBAF0B7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4943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9F3D515-A1CB-4F07-9A8F-3CF07ABE912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80180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67F5E1F-E6F2-4519-9C0D-859178309B0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61227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EFE1D29-1024-45E0-8931-1DAD8470904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38289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202649C-5B75-41B5-BD1E-5AC71FA0A10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3695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15F05F0-2147-4F08-985C-E0953BEB734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85075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6E42845-E3F6-4228-A5C3-03E7C188788C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27418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ASSESSMENT TO DATA ANALYSIS AND BI - FOUOTSOP FOSSO PATRICK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267413E-0343-454F-995C-BFA91137224E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829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200" b="0" strike="noStrike" spc="-1">
                <a:solidFill>
                  <a:srgbClr val="787878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787878"/>
                </a:solidFill>
                <a:latin typeface="Aptos"/>
              </a:rPr>
              <a:t>ASSESSMENT TO DATA ANALYSIS AND BI - FOUOTSOP FOSSO PATRICK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6160D7-307F-4F3F-B76A-B85A78C1BE73}" type="slidenum">
              <a:rPr lang="en-US" sz="1200" b="0" strike="noStrike" spc="-1">
                <a:solidFill>
                  <a:srgbClr val="787878"/>
                </a:solidFill>
                <a:latin typeface="Apto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endParaRPr lang="en-US" sz="14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982914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patrickfosso49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kulkarniparth09/fifa-world-cup-complete-dataset-19302026?resource=downloa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48" y="1547162"/>
            <a:ext cx="12057099" cy="2114225"/>
          </a:xfrm>
        </p:spPr>
        <p:txBody>
          <a:bodyPr>
            <a:noAutofit/>
          </a:bodyPr>
          <a:lstStyle/>
          <a:p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8" y="3965655"/>
            <a:ext cx="9144000" cy="5487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June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973E03-8FA4-0A4B-F2A9-5D73EE466237}"/>
              </a:ext>
            </a:extLst>
          </p:cNvPr>
          <p:cNvSpPr txBox="1"/>
          <p:nvPr/>
        </p:nvSpPr>
        <p:spPr>
          <a:xfrm>
            <a:off x="1945626" y="4772295"/>
            <a:ext cx="863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FOUOTSOP FOSSO PATRICK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296787-66B2-11A1-4ADF-7672C484719D}"/>
              </a:ext>
            </a:extLst>
          </p:cNvPr>
          <p:cNvSpPr txBox="1"/>
          <p:nvPr/>
        </p:nvSpPr>
        <p:spPr>
          <a:xfrm>
            <a:off x="1979048" y="5368951"/>
            <a:ext cx="85691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solidFill>
                  <a:srgbClr val="FA884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patrickfosso49@gmail.com</a:t>
            </a:r>
            <a:endParaRPr lang="en-US" dirty="0">
              <a:solidFill>
                <a:srgbClr val="FA884B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AC893B-9318-FBA8-A014-301B0F4D8CEA}"/>
              </a:ext>
            </a:extLst>
          </p:cNvPr>
          <p:cNvSpPr/>
          <p:nvPr/>
        </p:nvSpPr>
        <p:spPr>
          <a:xfrm>
            <a:off x="1979048" y="1815"/>
            <a:ext cx="10213959" cy="624129"/>
          </a:xfrm>
          <a:prstGeom prst="rect">
            <a:avLst/>
          </a:prstGeom>
          <a:solidFill>
            <a:srgbClr val="FA8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DDA15B-C03D-6017-A008-D5B9B4E6D70E}"/>
              </a:ext>
            </a:extLst>
          </p:cNvPr>
          <p:cNvSpPr/>
          <p:nvPr/>
        </p:nvSpPr>
        <p:spPr>
          <a:xfrm>
            <a:off x="0" y="6254151"/>
            <a:ext cx="12191999" cy="603848"/>
          </a:xfrm>
          <a:prstGeom prst="rect">
            <a:avLst/>
          </a:prstGeom>
          <a:solidFill>
            <a:srgbClr val="FA88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for a company&#10;&#10;Description automatically generated">
            <a:extLst>
              <a:ext uri="{FF2B5EF4-FFF2-40B4-BE49-F238E27FC236}">
                <a16:creationId xmlns:a16="http://schemas.microsoft.com/office/drawing/2014/main" id="{1E55C7C4-E2FD-BF9B-CF72-D1DE2022A1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9" t="-323" r="-528" b="-1762"/>
          <a:stretch/>
        </p:blipFill>
        <p:spPr>
          <a:xfrm>
            <a:off x="74555" y="6719"/>
            <a:ext cx="1906695" cy="62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8EF5-AB7F-C7B5-091D-16A7F7783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>
            <a:extLst>
              <a:ext uri="{FF2B5EF4-FFF2-40B4-BE49-F238E27FC236}">
                <a16:creationId xmlns:a16="http://schemas.microsoft.com/office/drawing/2014/main" id="{307CBE59-F601-9226-915D-25D632049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" y="-8640"/>
            <a:ext cx="12174480" cy="106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800" spc="-1">
                <a:solidFill>
                  <a:srgbClr val="000000"/>
                </a:solidFill>
                <a:latin typeface="Aptos Display"/>
              </a:rPr>
              <a:t>Objectif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B49D2D7-09AF-4902-32D6-6C1E47748DA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B17E7B7-BCF8-4704-9E3D-2FA3729F2199}" type="slidenum">
              <a:rPr/>
              <a:t>2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D351FC-9882-5456-D599-4CD5AD1872D2}"/>
              </a:ext>
            </a:extLst>
          </p:cNvPr>
          <p:cNvSpPr txBox="1"/>
          <p:nvPr/>
        </p:nvSpPr>
        <p:spPr>
          <a:xfrm>
            <a:off x="396240" y="942660"/>
            <a:ext cx="10956360" cy="51717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 err="1">
                <a:ea typeface="+mn-lt"/>
                <a:cs typeface="+mn-lt"/>
              </a:rPr>
              <a:t>L’objectif</a:t>
            </a:r>
            <a:r>
              <a:rPr lang="en-US" sz="3200" dirty="0">
                <a:ea typeface="+mn-lt"/>
                <a:cs typeface="+mn-lt"/>
              </a:rPr>
              <a:t> de </a:t>
            </a:r>
            <a:r>
              <a:rPr lang="en-US" sz="3200" dirty="0" err="1">
                <a:ea typeface="+mn-lt"/>
                <a:cs typeface="+mn-lt"/>
              </a:rPr>
              <a:t>ce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projet</a:t>
            </a:r>
            <a:r>
              <a:rPr lang="en-US" sz="3200" dirty="0">
                <a:ea typeface="+mn-lt"/>
                <a:cs typeface="+mn-lt"/>
              </a:rPr>
              <a:t> est </a:t>
            </a:r>
            <a:r>
              <a:rPr lang="en-US" sz="3200" dirty="0" err="1">
                <a:ea typeface="+mn-lt"/>
                <a:cs typeface="+mn-lt"/>
              </a:rPr>
              <a:t>d’appliquer</a:t>
            </a:r>
            <a:r>
              <a:rPr lang="en-US" sz="3200" dirty="0">
                <a:ea typeface="+mn-lt"/>
                <a:cs typeface="+mn-lt"/>
              </a:rPr>
              <a:t> des techniques de Business Intelligence aux données </a:t>
            </a:r>
            <a:r>
              <a:rPr lang="en-US" sz="3200" dirty="0" err="1">
                <a:ea typeface="+mn-lt"/>
                <a:cs typeface="+mn-lt"/>
              </a:rPr>
              <a:t>collectées</a:t>
            </a:r>
            <a:r>
              <a:rPr lang="en-US" sz="3200" dirty="0">
                <a:ea typeface="+mn-lt"/>
                <a:cs typeface="+mn-lt"/>
              </a:rPr>
              <a:t> entre 1930 et 2022 </a:t>
            </a:r>
            <a:r>
              <a:rPr lang="en-US" sz="3200" dirty="0" err="1">
                <a:ea typeface="+mn-lt"/>
                <a:cs typeface="+mn-lt"/>
              </a:rPr>
              <a:t>lors</a:t>
            </a:r>
            <a:r>
              <a:rPr lang="en-US" sz="3200" dirty="0">
                <a:ea typeface="+mn-lt"/>
                <a:cs typeface="+mn-lt"/>
              </a:rPr>
              <a:t> des </a:t>
            </a:r>
            <a:r>
              <a:rPr lang="en-US" sz="3200" dirty="0" err="1">
                <a:ea typeface="+mn-lt"/>
                <a:cs typeface="+mn-lt"/>
              </a:rPr>
              <a:t>compétitions</a:t>
            </a:r>
            <a:r>
              <a:rPr lang="en-US" sz="3200" dirty="0">
                <a:ea typeface="+mn-lt"/>
                <a:cs typeface="+mn-lt"/>
              </a:rPr>
              <a:t> de la Coupe du Monde de la FIFA </a:t>
            </a:r>
            <a:r>
              <a:rPr lang="en-US" sz="3200" dirty="0" err="1">
                <a:ea typeface="+mn-lt"/>
                <a:cs typeface="+mn-lt"/>
              </a:rPr>
              <a:t>afin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d’obtenir</a:t>
            </a:r>
            <a:r>
              <a:rPr lang="en-US" sz="3200" dirty="0">
                <a:ea typeface="+mn-lt"/>
                <a:cs typeface="+mn-lt"/>
              </a:rPr>
              <a:t> des </a:t>
            </a:r>
            <a:r>
              <a:rPr lang="en-US" sz="3200" dirty="0" err="1">
                <a:ea typeface="+mn-lt"/>
                <a:cs typeface="+mn-lt"/>
              </a:rPr>
              <a:t>informations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pertinentes</a:t>
            </a:r>
            <a:r>
              <a:rPr lang="en-US" sz="3200" dirty="0">
                <a:ea typeface="+mn-lt"/>
                <a:cs typeface="+mn-lt"/>
              </a:rPr>
              <a:t>.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sz="3200" dirty="0" err="1">
                <a:ea typeface="+mn-lt"/>
                <a:cs typeface="+mn-lt"/>
              </a:rPr>
              <a:t>Résultat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attendu</a:t>
            </a:r>
            <a:r>
              <a:rPr lang="en-US" sz="3200" dirty="0">
                <a:ea typeface="+mn-lt"/>
                <a:cs typeface="+mn-lt"/>
              </a:rPr>
              <a:t> : Le </a:t>
            </a:r>
            <a:r>
              <a:rPr lang="en-US" sz="3200" dirty="0" err="1">
                <a:ea typeface="+mn-lt"/>
                <a:cs typeface="+mn-lt"/>
              </a:rPr>
              <a:t>livrable</a:t>
            </a:r>
            <a:r>
              <a:rPr lang="en-US" sz="3200" dirty="0">
                <a:ea typeface="+mn-lt"/>
                <a:cs typeface="+mn-lt"/>
              </a:rPr>
              <a:t> du </a:t>
            </a:r>
            <a:r>
              <a:rPr lang="en-US" sz="3200" dirty="0" err="1">
                <a:ea typeface="+mn-lt"/>
                <a:cs typeface="+mn-lt"/>
              </a:rPr>
              <a:t>projet</a:t>
            </a:r>
            <a:r>
              <a:rPr lang="en-US" sz="3200" dirty="0">
                <a:ea typeface="+mn-lt"/>
                <a:cs typeface="+mn-lt"/>
              </a:rPr>
              <a:t> est un rapport qui </a:t>
            </a:r>
            <a:r>
              <a:rPr lang="en-US" sz="3200" dirty="0" err="1">
                <a:ea typeface="+mn-lt"/>
                <a:cs typeface="+mn-lt"/>
              </a:rPr>
              <a:t>présentera</a:t>
            </a:r>
            <a:r>
              <a:rPr lang="en-US" sz="3200" dirty="0">
                <a:ea typeface="+mn-lt"/>
                <a:cs typeface="+mn-lt"/>
              </a:rPr>
              <a:t> la performance des </a:t>
            </a:r>
            <a:r>
              <a:rPr lang="en-US" sz="3200" dirty="0" err="1">
                <a:ea typeface="+mn-lt"/>
                <a:cs typeface="+mn-lt"/>
              </a:rPr>
              <a:t>vainqueurs</a:t>
            </a:r>
            <a:r>
              <a:rPr lang="en-US" sz="3200" dirty="0">
                <a:ea typeface="+mn-lt"/>
                <a:cs typeface="+mn-lt"/>
              </a:rPr>
              <a:t> et des participants au fil des </a:t>
            </a:r>
            <a:r>
              <a:rPr lang="en-US" sz="3200" dirty="0" err="1">
                <a:ea typeface="+mn-lt"/>
                <a:cs typeface="+mn-lt"/>
              </a:rPr>
              <a:t>années</a:t>
            </a:r>
            <a:r>
              <a:rPr lang="en-US" sz="3200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8EF5-AB7F-C7B5-091D-16A7F7783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>
            <a:extLst>
              <a:ext uri="{FF2B5EF4-FFF2-40B4-BE49-F238E27FC236}">
                <a16:creationId xmlns:a16="http://schemas.microsoft.com/office/drawing/2014/main" id="{307CBE59-F601-9226-915D-25D632049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" y="-8640"/>
            <a:ext cx="12174480" cy="106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800" spc="-1">
                <a:solidFill>
                  <a:srgbClr val="000000"/>
                </a:solidFill>
                <a:latin typeface="Aptos Display"/>
              </a:rPr>
              <a:t>Objectif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B49D2D7-09AF-4902-32D6-6C1E47748DA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B17E7B7-BCF8-4704-9E3D-2FA3729F2199}" type="slidenum">
              <a:rPr/>
              <a:t>3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D351FC-9882-5456-D599-4CD5AD1872D2}"/>
              </a:ext>
            </a:extLst>
          </p:cNvPr>
          <p:cNvSpPr txBox="1"/>
          <p:nvPr/>
        </p:nvSpPr>
        <p:spPr>
          <a:xfrm>
            <a:off x="396240" y="942660"/>
            <a:ext cx="10956360" cy="51717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 err="1">
                <a:ea typeface="+mn-lt"/>
                <a:cs typeface="+mn-lt"/>
              </a:rPr>
              <a:t>L’objectif</a:t>
            </a:r>
            <a:r>
              <a:rPr lang="en-US" sz="3200" dirty="0">
                <a:ea typeface="+mn-lt"/>
                <a:cs typeface="+mn-lt"/>
              </a:rPr>
              <a:t> de </a:t>
            </a:r>
            <a:r>
              <a:rPr lang="en-US" sz="3200" dirty="0" err="1">
                <a:ea typeface="+mn-lt"/>
                <a:cs typeface="+mn-lt"/>
              </a:rPr>
              <a:t>ce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projet</a:t>
            </a:r>
            <a:r>
              <a:rPr lang="en-US" sz="3200" dirty="0">
                <a:ea typeface="+mn-lt"/>
                <a:cs typeface="+mn-lt"/>
              </a:rPr>
              <a:t> est </a:t>
            </a:r>
            <a:r>
              <a:rPr lang="en-US" sz="3200" dirty="0" err="1">
                <a:ea typeface="+mn-lt"/>
                <a:cs typeface="+mn-lt"/>
              </a:rPr>
              <a:t>d’appliquer</a:t>
            </a:r>
            <a:r>
              <a:rPr lang="en-US" sz="3200" dirty="0">
                <a:ea typeface="+mn-lt"/>
                <a:cs typeface="+mn-lt"/>
              </a:rPr>
              <a:t> des techniques de Business Intelligence aux données </a:t>
            </a:r>
            <a:r>
              <a:rPr lang="en-US" sz="3200" dirty="0" err="1">
                <a:ea typeface="+mn-lt"/>
                <a:cs typeface="+mn-lt"/>
              </a:rPr>
              <a:t>collectées</a:t>
            </a:r>
            <a:r>
              <a:rPr lang="en-US" sz="3200" dirty="0">
                <a:ea typeface="+mn-lt"/>
                <a:cs typeface="+mn-lt"/>
              </a:rPr>
              <a:t> entre 1930 et 2022 </a:t>
            </a:r>
            <a:r>
              <a:rPr lang="en-US" sz="3200" dirty="0" err="1">
                <a:ea typeface="+mn-lt"/>
                <a:cs typeface="+mn-lt"/>
              </a:rPr>
              <a:t>lors</a:t>
            </a:r>
            <a:r>
              <a:rPr lang="en-US" sz="3200" dirty="0">
                <a:ea typeface="+mn-lt"/>
                <a:cs typeface="+mn-lt"/>
              </a:rPr>
              <a:t> des </a:t>
            </a:r>
            <a:r>
              <a:rPr lang="en-US" sz="3200" dirty="0" err="1">
                <a:ea typeface="+mn-lt"/>
                <a:cs typeface="+mn-lt"/>
              </a:rPr>
              <a:t>compétitions</a:t>
            </a:r>
            <a:r>
              <a:rPr lang="en-US" sz="3200" dirty="0">
                <a:ea typeface="+mn-lt"/>
                <a:cs typeface="+mn-lt"/>
              </a:rPr>
              <a:t> de la Coupe du Monde de la FIFA </a:t>
            </a:r>
            <a:r>
              <a:rPr lang="en-US" sz="3200" dirty="0" err="1">
                <a:ea typeface="+mn-lt"/>
                <a:cs typeface="+mn-lt"/>
              </a:rPr>
              <a:t>afin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d’obtenir</a:t>
            </a:r>
            <a:r>
              <a:rPr lang="en-US" sz="3200" dirty="0">
                <a:ea typeface="+mn-lt"/>
                <a:cs typeface="+mn-lt"/>
              </a:rPr>
              <a:t> des </a:t>
            </a:r>
            <a:r>
              <a:rPr lang="en-US" sz="3200" dirty="0" err="1">
                <a:ea typeface="+mn-lt"/>
                <a:cs typeface="+mn-lt"/>
              </a:rPr>
              <a:t>informations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pertinentes</a:t>
            </a:r>
            <a:r>
              <a:rPr lang="en-US" sz="3200" dirty="0">
                <a:ea typeface="+mn-lt"/>
                <a:cs typeface="+mn-lt"/>
              </a:rPr>
              <a:t>.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sz="3200" dirty="0" err="1">
                <a:ea typeface="+mn-lt"/>
                <a:cs typeface="+mn-lt"/>
              </a:rPr>
              <a:t>Résultat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attendu</a:t>
            </a:r>
            <a:r>
              <a:rPr lang="en-US" sz="3200" dirty="0">
                <a:ea typeface="+mn-lt"/>
                <a:cs typeface="+mn-lt"/>
              </a:rPr>
              <a:t> : Le </a:t>
            </a:r>
            <a:r>
              <a:rPr lang="en-US" sz="3200" dirty="0" err="1">
                <a:ea typeface="+mn-lt"/>
                <a:cs typeface="+mn-lt"/>
              </a:rPr>
              <a:t>livrable</a:t>
            </a:r>
            <a:r>
              <a:rPr lang="en-US" sz="3200" dirty="0">
                <a:ea typeface="+mn-lt"/>
                <a:cs typeface="+mn-lt"/>
              </a:rPr>
              <a:t> du </a:t>
            </a:r>
            <a:r>
              <a:rPr lang="en-US" sz="3200" dirty="0" err="1">
                <a:ea typeface="+mn-lt"/>
                <a:cs typeface="+mn-lt"/>
              </a:rPr>
              <a:t>projet</a:t>
            </a:r>
            <a:r>
              <a:rPr lang="en-US" sz="3200" dirty="0">
                <a:ea typeface="+mn-lt"/>
                <a:cs typeface="+mn-lt"/>
              </a:rPr>
              <a:t> est un rapport qui </a:t>
            </a:r>
            <a:r>
              <a:rPr lang="en-US" sz="3200" dirty="0" err="1">
                <a:ea typeface="+mn-lt"/>
                <a:cs typeface="+mn-lt"/>
              </a:rPr>
              <a:t>présentera</a:t>
            </a:r>
            <a:r>
              <a:rPr lang="en-US" sz="3200" dirty="0">
                <a:ea typeface="+mn-lt"/>
                <a:cs typeface="+mn-lt"/>
              </a:rPr>
              <a:t> la performance des </a:t>
            </a:r>
            <a:r>
              <a:rPr lang="en-US" sz="3200" dirty="0" err="1">
                <a:ea typeface="+mn-lt"/>
                <a:cs typeface="+mn-lt"/>
              </a:rPr>
              <a:t>vainqueurs</a:t>
            </a:r>
            <a:r>
              <a:rPr lang="en-US" sz="3200" dirty="0">
                <a:ea typeface="+mn-lt"/>
                <a:cs typeface="+mn-lt"/>
              </a:rPr>
              <a:t> et des participants au fil des </a:t>
            </a:r>
            <a:r>
              <a:rPr lang="en-US" sz="3200" dirty="0" err="1">
                <a:ea typeface="+mn-lt"/>
                <a:cs typeface="+mn-lt"/>
              </a:rPr>
              <a:t>années</a:t>
            </a:r>
            <a:r>
              <a:rPr lang="en-US" sz="3200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260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BED3D-427D-4012-573E-6BCC0A10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>
            <a:extLst>
              <a:ext uri="{FF2B5EF4-FFF2-40B4-BE49-F238E27FC236}">
                <a16:creationId xmlns:a16="http://schemas.microsoft.com/office/drawing/2014/main" id="{E7C01DED-5DBE-CD47-844A-595A1A523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" y="-8640"/>
            <a:ext cx="12174480" cy="106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/>
            <a:r>
              <a:rPr lang="en-US" sz="4800" spc="-1">
                <a:solidFill>
                  <a:srgbClr val="000000"/>
                </a:solidFill>
                <a:latin typeface="Aptos Display"/>
              </a:rPr>
              <a:t>Description des données</a:t>
            </a:r>
            <a:endParaRPr lang="en-US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730C1E51-45D0-065E-EFAB-0137AA67CD3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B17E7B7-BCF8-4704-9E3D-2FA3729F2199}" type="slidenum">
              <a:rPr/>
              <a:t>4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5F5C7-BF1E-1CE3-F82A-96735E667F8E}"/>
              </a:ext>
            </a:extLst>
          </p:cNvPr>
          <p:cNvSpPr txBox="1"/>
          <p:nvPr/>
        </p:nvSpPr>
        <p:spPr>
          <a:xfrm>
            <a:off x="396240" y="1056960"/>
            <a:ext cx="10956360" cy="29557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ea typeface="+mn-lt"/>
                <a:cs typeface="+mn-lt"/>
              </a:rPr>
              <a:t>Les données de </a:t>
            </a:r>
            <a:r>
              <a:rPr lang="en-US" sz="3200" dirty="0" err="1">
                <a:ea typeface="+mn-lt"/>
                <a:cs typeface="+mn-lt"/>
              </a:rPr>
              <a:t>tous</a:t>
            </a:r>
            <a:r>
              <a:rPr lang="en-US" sz="3200" dirty="0">
                <a:ea typeface="+mn-lt"/>
                <a:cs typeface="+mn-lt"/>
              </a:rPr>
              <a:t> les </a:t>
            </a:r>
            <a:r>
              <a:rPr lang="en-US" sz="3200" dirty="0" err="1">
                <a:ea typeface="+mn-lt"/>
                <a:cs typeface="+mn-lt"/>
              </a:rPr>
              <a:t>matchs</a:t>
            </a:r>
            <a:r>
              <a:rPr lang="en-US" sz="3200" dirty="0">
                <a:ea typeface="+mn-lt"/>
                <a:cs typeface="+mn-lt"/>
              </a:rPr>
              <a:t> des Coupes du Monde de la FIFA de 1930 à 2026 </a:t>
            </a:r>
            <a:r>
              <a:rPr lang="en-US" sz="3200" dirty="0" err="1">
                <a:ea typeface="+mn-lt"/>
                <a:cs typeface="+mn-lt"/>
              </a:rPr>
              <a:t>ont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été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collectées</a:t>
            </a:r>
            <a:r>
              <a:rPr lang="en-US" sz="3200" dirty="0">
                <a:ea typeface="+mn-lt"/>
                <a:cs typeface="+mn-lt"/>
              </a:rPr>
              <a:t> dans quatre  </a:t>
            </a:r>
            <a:r>
              <a:rPr lang="en-US" sz="3200" dirty="0" err="1">
                <a:ea typeface="+mn-lt"/>
                <a:cs typeface="+mn-lt"/>
              </a:rPr>
              <a:t>fichiers</a:t>
            </a:r>
            <a:r>
              <a:rPr lang="en-US" sz="3200" dirty="0">
                <a:ea typeface="+mn-lt"/>
                <a:cs typeface="+mn-lt"/>
              </a:rPr>
              <a:t> CSV. </a:t>
            </a:r>
            <a:r>
              <a:rPr lang="en-US" sz="3200" dirty="0" err="1">
                <a:ea typeface="+mn-lt"/>
                <a:cs typeface="+mn-lt"/>
              </a:rPr>
              <a:t>Ces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fichiers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presentent</a:t>
            </a:r>
            <a:r>
              <a:rPr lang="en-US" sz="3200" dirty="0">
                <a:ea typeface="+mn-lt"/>
                <a:cs typeface="+mn-lt"/>
              </a:rPr>
              <a:t> les </a:t>
            </a:r>
            <a:r>
              <a:rPr lang="en-US" sz="3200" dirty="0" err="1">
                <a:ea typeface="+mn-lt"/>
                <a:cs typeface="+mn-lt"/>
              </a:rPr>
              <a:t>matchs</a:t>
            </a:r>
            <a:r>
              <a:rPr lang="en-US" sz="3200" dirty="0">
                <a:ea typeface="+mn-lt"/>
                <a:cs typeface="+mn-lt"/>
              </a:rPr>
              <a:t> les editions, les equipes, </a:t>
            </a:r>
            <a:r>
              <a:rPr lang="en-US" sz="3200" dirty="0" err="1">
                <a:ea typeface="+mn-lt"/>
                <a:cs typeface="+mn-lt"/>
              </a:rPr>
              <a:t>ainsi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que</a:t>
            </a:r>
            <a:r>
              <a:rPr lang="en-US" sz="3200" dirty="0">
                <a:ea typeface="+mn-lt"/>
                <a:cs typeface="+mn-lt"/>
              </a:rPr>
              <a:t> les </a:t>
            </a:r>
            <a:r>
              <a:rPr lang="en-US" sz="3200" dirty="0" err="1">
                <a:ea typeface="+mn-lt"/>
                <a:cs typeface="+mn-lt"/>
              </a:rPr>
              <a:t>meilleurs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buteurs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409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254A1-AD0C-3E0F-4DB2-03F568F31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>
            <a:extLst>
              <a:ext uri="{FF2B5EF4-FFF2-40B4-BE49-F238E27FC236}">
                <a16:creationId xmlns:a16="http://schemas.microsoft.com/office/drawing/2014/main" id="{7092D8A2-3E69-71E0-231B-020C12622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9" y="137520"/>
            <a:ext cx="12012611" cy="56444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4800" spc="-1">
                <a:latin typeface="Arial"/>
              </a:rPr>
              <a:t>Exigences</a:t>
            </a:r>
            <a:endParaRPr lang="en-US"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D7391838-3304-4231-4F42-433EB759607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B17E7B7-BCF8-4704-9E3D-2FA3729F2199}" type="slidenum">
              <a:rPr/>
              <a:t>5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C9A4D-1CF7-0EC7-011D-653CFBC60203}"/>
              </a:ext>
            </a:extLst>
          </p:cNvPr>
          <p:cNvSpPr txBox="1"/>
          <p:nvPr/>
        </p:nvSpPr>
        <p:spPr>
          <a:xfrm>
            <a:off x="179389" y="1197504"/>
            <a:ext cx="11636011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algn="just">
              <a:buAutoNum type="arabicPeriod"/>
            </a:pPr>
            <a:r>
              <a:rPr lang="en-US" sz="3200" err="1">
                <a:ea typeface="+mn-lt"/>
                <a:cs typeface="+mn-lt"/>
              </a:rPr>
              <a:t>Connaître</a:t>
            </a:r>
            <a:r>
              <a:rPr lang="en-US" sz="3200">
                <a:ea typeface="+mn-lt"/>
                <a:cs typeface="+mn-lt"/>
              </a:rPr>
              <a:t> comment la performance des vainqueurs varie au fil des années.</a:t>
            </a:r>
            <a:endParaRPr lang="en-US"/>
          </a:p>
          <a:p>
            <a:pPr marL="514350" algn="just">
              <a:buAutoNum type="arabicPeriod"/>
            </a:pPr>
            <a:r>
              <a:rPr lang="en-US" sz="3200" err="1">
                <a:ea typeface="+mn-lt"/>
                <a:cs typeface="+mn-lt"/>
              </a:rPr>
              <a:t>Connaître</a:t>
            </a:r>
            <a:r>
              <a:rPr lang="en-US" sz="3200">
                <a:ea typeface="+mn-lt"/>
                <a:cs typeface="+mn-lt"/>
              </a:rPr>
              <a:t> le </a:t>
            </a:r>
            <a:r>
              <a:rPr lang="en-US" sz="3200" err="1">
                <a:ea typeface="+mn-lt"/>
                <a:cs typeface="+mn-lt"/>
              </a:rPr>
              <a:t>nombre</a:t>
            </a:r>
            <a:r>
              <a:rPr lang="en-US" sz="3200">
                <a:ea typeface="+mn-lt"/>
                <a:cs typeface="+mn-lt"/>
              </a:rPr>
              <a:t> de finales </a:t>
            </a:r>
            <a:r>
              <a:rPr lang="en-US" sz="3200" err="1">
                <a:ea typeface="+mn-lt"/>
                <a:cs typeface="+mn-lt"/>
              </a:rPr>
              <a:t>remportées</a:t>
            </a:r>
            <a:r>
              <a:rPr lang="en-US" sz="3200">
                <a:ea typeface="+mn-lt"/>
                <a:cs typeface="+mn-lt"/>
              </a:rPr>
              <a:t> par pays.</a:t>
            </a:r>
            <a:endParaRPr lang="en-US"/>
          </a:p>
          <a:p>
            <a:pPr marL="514350" algn="just">
              <a:buAutoNum type="arabicPeriod"/>
            </a:pPr>
            <a:r>
              <a:rPr lang="en-US" sz="3200" err="1">
                <a:ea typeface="+mn-lt"/>
                <a:cs typeface="+mn-lt"/>
              </a:rPr>
              <a:t>Analyser</a:t>
            </a:r>
            <a:r>
              <a:rPr lang="en-US" sz="3200">
                <a:ea typeface="+mn-lt"/>
                <a:cs typeface="+mn-lt"/>
              </a:rPr>
              <a:t> la performance de </a:t>
            </a:r>
            <a:r>
              <a:rPr lang="en-US" sz="3200" err="1">
                <a:ea typeface="+mn-lt"/>
                <a:cs typeface="+mn-lt"/>
              </a:rPr>
              <a:t>tous</a:t>
            </a:r>
            <a:r>
              <a:rPr lang="en-US" sz="3200">
                <a:ea typeface="+mn-lt"/>
                <a:cs typeface="+mn-lt"/>
              </a:rPr>
              <a:t> les pays.</a:t>
            </a:r>
            <a:endParaRPr lang="en-US"/>
          </a:p>
          <a:p>
            <a:pPr marL="514350" algn="just">
              <a:buAutoNum type="arabicPeriod"/>
            </a:pPr>
            <a:r>
              <a:rPr lang="en-US" sz="3200" err="1">
                <a:ea typeface="+mn-lt"/>
                <a:cs typeface="+mn-lt"/>
              </a:rPr>
              <a:t>Analyser</a:t>
            </a:r>
            <a:r>
              <a:rPr lang="en-US" sz="3200">
                <a:ea typeface="+mn-lt"/>
                <a:cs typeface="+mn-lt"/>
              </a:rPr>
              <a:t> comment la performance de </a:t>
            </a:r>
            <a:r>
              <a:rPr lang="en-US" sz="3200" err="1">
                <a:ea typeface="+mn-lt"/>
                <a:cs typeface="+mn-lt"/>
              </a:rPr>
              <a:t>chaque</a:t>
            </a:r>
            <a:r>
              <a:rPr lang="en-US" sz="3200">
                <a:ea typeface="+mn-lt"/>
                <a:cs typeface="+mn-lt"/>
              </a:rPr>
              <a:t> pays </a:t>
            </a:r>
            <a:r>
              <a:rPr lang="en-US" sz="3200" err="1">
                <a:ea typeface="+mn-lt"/>
                <a:cs typeface="+mn-lt"/>
              </a:rPr>
              <a:t>évolue</a:t>
            </a:r>
            <a:r>
              <a:rPr lang="en-US" sz="3200">
                <a:ea typeface="+mn-lt"/>
                <a:cs typeface="+mn-lt"/>
              </a:rPr>
              <a:t> au fil des </a:t>
            </a:r>
            <a:r>
              <a:rPr lang="en-US" sz="3200" err="1">
                <a:ea typeface="+mn-lt"/>
                <a:cs typeface="+mn-lt"/>
              </a:rPr>
              <a:t>années</a:t>
            </a:r>
            <a:r>
              <a:rPr lang="en-US" sz="3200">
                <a:ea typeface="+mn-lt"/>
                <a:cs typeface="+mn-lt"/>
              </a:rPr>
              <a:t>.</a:t>
            </a:r>
            <a:endParaRPr lang="en-US"/>
          </a:p>
          <a:p>
            <a:pPr marL="514350" algn="just">
              <a:buAutoNum type="arabicPeriod"/>
            </a:pPr>
            <a:r>
              <a:rPr lang="en-US" sz="3200" err="1">
                <a:ea typeface="+mn-lt"/>
                <a:cs typeface="+mn-lt"/>
              </a:rPr>
              <a:t>Analyser</a:t>
            </a:r>
            <a:r>
              <a:rPr lang="en-US" sz="3200">
                <a:ea typeface="+mn-lt"/>
                <a:cs typeface="+mn-lt"/>
              </a:rPr>
              <a:t> le </a:t>
            </a:r>
            <a:r>
              <a:rPr lang="en-US" sz="3200" err="1">
                <a:ea typeface="+mn-lt"/>
                <a:cs typeface="+mn-lt"/>
              </a:rPr>
              <a:t>nombre</a:t>
            </a:r>
            <a:r>
              <a:rPr lang="en-US" sz="3200">
                <a:ea typeface="+mn-lt"/>
                <a:cs typeface="+mn-lt"/>
              </a:rPr>
              <a:t> de qualifications par pays.</a:t>
            </a:r>
            <a:endParaRPr lang="en-US"/>
          </a:p>
          <a:p>
            <a:pPr marL="514350" algn="just">
              <a:buAutoNum type="arabicPeriod"/>
            </a:pPr>
            <a:r>
              <a:rPr lang="en-US" sz="3200" err="1">
                <a:ea typeface="+mn-lt"/>
                <a:cs typeface="+mn-lt"/>
              </a:rPr>
              <a:t>Suivre</a:t>
            </a:r>
            <a:r>
              <a:rPr lang="en-US" sz="3200">
                <a:ea typeface="+mn-lt"/>
                <a:cs typeface="+mn-lt"/>
              </a:rPr>
              <a:t> la performance par </a:t>
            </a:r>
            <a:r>
              <a:rPr lang="en-US" sz="3200" err="1">
                <a:ea typeface="+mn-lt"/>
                <a:cs typeface="+mn-lt"/>
              </a:rPr>
              <a:t>compétition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en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analysant</a:t>
            </a:r>
            <a:r>
              <a:rPr lang="en-US" sz="3200">
                <a:ea typeface="+mn-lt"/>
                <a:cs typeface="+mn-lt"/>
              </a:rPr>
              <a:t> le </a:t>
            </a:r>
            <a:r>
              <a:rPr lang="en-US" sz="3200" err="1">
                <a:ea typeface="+mn-lt"/>
                <a:cs typeface="+mn-lt"/>
              </a:rPr>
              <a:t>nombre</a:t>
            </a:r>
            <a:r>
              <a:rPr lang="en-US" sz="3200">
                <a:ea typeface="+mn-lt"/>
                <a:cs typeface="+mn-lt"/>
              </a:rPr>
              <a:t> total de buts marqués.</a:t>
            </a:r>
            <a:endParaRPr lang="en-US"/>
          </a:p>
          <a:p>
            <a:pPr marL="514350" algn="just">
              <a:buAutoNum type="arabicPeriod"/>
            </a:pPr>
            <a:r>
              <a:rPr lang="en-US" sz="3200" err="1">
                <a:ea typeface="+mn-lt"/>
                <a:cs typeface="+mn-lt"/>
              </a:rPr>
              <a:t>Connaître</a:t>
            </a:r>
            <a:r>
              <a:rPr lang="en-US" sz="3200">
                <a:ea typeface="+mn-lt"/>
                <a:cs typeface="+mn-lt"/>
              </a:rPr>
              <a:t> le </a:t>
            </a:r>
            <a:r>
              <a:rPr lang="en-US" sz="3200" err="1">
                <a:ea typeface="+mn-lt"/>
                <a:cs typeface="+mn-lt"/>
              </a:rPr>
              <a:t>nombre</a:t>
            </a:r>
            <a:r>
              <a:rPr lang="en-US" sz="3200">
                <a:ea typeface="+mn-lt"/>
                <a:cs typeface="+mn-lt"/>
              </a:rPr>
              <a:t> total de </a:t>
            </a:r>
            <a:r>
              <a:rPr lang="en-US" sz="3200" err="1">
                <a:ea typeface="+mn-lt"/>
                <a:cs typeface="+mn-lt"/>
              </a:rPr>
              <a:t>matchs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organisés</a:t>
            </a:r>
            <a:r>
              <a:rPr lang="en-US" sz="3200">
                <a:ea typeface="+mn-lt"/>
                <a:cs typeface="+mn-lt"/>
              </a:rPr>
              <a:t> par </a:t>
            </a:r>
            <a:r>
              <a:rPr lang="en-US" sz="3200" err="1">
                <a:ea typeface="+mn-lt"/>
                <a:cs typeface="+mn-lt"/>
              </a:rPr>
              <a:t>stade</a:t>
            </a:r>
            <a:r>
              <a:rPr lang="en-US" sz="3200">
                <a:ea typeface="+mn-lt"/>
                <a:cs typeface="+mn-lt"/>
              </a:rPr>
              <a:t>.</a:t>
            </a:r>
            <a:endParaRPr lang="en-US"/>
          </a:p>
          <a:p>
            <a:pPr algn="just"/>
            <a:endParaRPr lang="en-US" sz="32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5A177A-B015-ABCF-A706-1A6D76543717}"/>
              </a:ext>
            </a:extLst>
          </p:cNvPr>
          <p:cNvSpPr txBox="1"/>
          <p:nvPr/>
        </p:nvSpPr>
        <p:spPr>
          <a:xfrm>
            <a:off x="0" y="409576"/>
            <a:ext cx="5375563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spc="-1"/>
              <a:t>Nous </a:t>
            </a:r>
            <a:r>
              <a:rPr lang="en-US" sz="3200" spc="-1" err="1"/>
              <a:t>voulons</a:t>
            </a:r>
            <a:r>
              <a:rPr lang="en-US" sz="3200" spc="-1"/>
              <a:t> </a:t>
            </a:r>
            <a:r>
              <a:rPr lang="en-US" sz="3200" spc="-1" err="1"/>
              <a:t>donc</a:t>
            </a:r>
            <a:r>
              <a:rPr lang="en-US" sz="3200" spc="-1"/>
              <a:t> :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05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2D1B5-13AD-64BD-7407-3367E2D6C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>
            <a:extLst>
              <a:ext uri="{FF2B5EF4-FFF2-40B4-BE49-F238E27FC236}">
                <a16:creationId xmlns:a16="http://schemas.microsoft.com/office/drawing/2014/main" id="{134DE3D5-0957-98CA-11D9-E02ACF4EC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" y="-8640"/>
            <a:ext cx="12174480" cy="1065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/>
            <a:r>
              <a:rPr lang="en-US" sz="4800" spc="-1" err="1">
                <a:latin typeface="Aptos Display"/>
              </a:rPr>
              <a:t>Analyse</a:t>
            </a:r>
            <a:r>
              <a:rPr lang="en-US" sz="4800" spc="-1">
                <a:latin typeface="Aptos Display"/>
              </a:rPr>
              <a:t> et </a:t>
            </a:r>
            <a:r>
              <a:rPr lang="en-US" sz="4800" spc="-1" err="1">
                <a:latin typeface="Aptos Display"/>
              </a:rPr>
              <a:t>visualisation</a:t>
            </a:r>
            <a:r>
              <a:rPr lang="en-US" sz="4800" spc="-1">
                <a:latin typeface="Aptos Display"/>
              </a:rPr>
              <a:t> des données</a:t>
            </a:r>
            <a:endParaRPr lang="en-US" sz="4800" b="0" strike="noStrike" spc="-1">
              <a:latin typeface="Aptos Display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E8247B77-6EF7-8B95-0CB9-9F4165F4269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B17E7B7-BCF8-4704-9E3D-2FA3729F2199}" type="slidenum">
              <a:rPr/>
              <a:t>6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FBBA5-510D-F064-0049-947899E74A5C}"/>
              </a:ext>
            </a:extLst>
          </p:cNvPr>
          <p:cNvSpPr txBox="1"/>
          <p:nvPr/>
        </p:nvSpPr>
        <p:spPr>
          <a:xfrm>
            <a:off x="429976" y="790671"/>
            <a:ext cx="11332048" cy="59104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3200">
                <a:ea typeface="+mn-lt"/>
                <a:cs typeface="+mn-lt"/>
              </a:rPr>
              <a:t>Identifier les </a:t>
            </a:r>
            <a:r>
              <a:rPr lang="en-US" sz="3200" err="1">
                <a:ea typeface="+mn-lt"/>
                <a:cs typeface="+mn-lt"/>
              </a:rPr>
              <a:t>différentes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mesures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nécessaires</a:t>
            </a:r>
            <a:r>
              <a:rPr lang="en-US" sz="3200">
                <a:ea typeface="+mn-lt"/>
                <a:cs typeface="+mn-lt"/>
              </a:rPr>
              <a:t> pour </a:t>
            </a:r>
            <a:r>
              <a:rPr lang="en-US" sz="3200" err="1">
                <a:ea typeface="+mn-lt"/>
                <a:cs typeface="+mn-lt"/>
              </a:rPr>
              <a:t>l’analyse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en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fonction</a:t>
            </a:r>
            <a:r>
              <a:rPr lang="en-US" sz="3200">
                <a:ea typeface="+mn-lt"/>
                <a:cs typeface="+mn-lt"/>
              </a:rPr>
              <a:t> des exigences données.</a:t>
            </a:r>
            <a:endParaRPr lang="en-US">
              <a:cs typeface="Arial"/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3200">
                <a:ea typeface="+mn-lt"/>
                <a:cs typeface="+mn-lt"/>
              </a:rPr>
              <a:t>Créer les </a:t>
            </a:r>
            <a:r>
              <a:rPr lang="en-US" sz="3200" err="1">
                <a:ea typeface="+mn-lt"/>
                <a:cs typeface="+mn-lt"/>
              </a:rPr>
              <a:t>mesures</a:t>
            </a:r>
            <a:r>
              <a:rPr lang="en-US" sz="3200">
                <a:ea typeface="+mn-lt"/>
                <a:cs typeface="+mn-lt"/>
              </a:rPr>
              <a:t> ci‑dessus sur le </a:t>
            </a:r>
            <a:r>
              <a:rPr lang="en-US" sz="3200" err="1">
                <a:ea typeface="+mn-lt"/>
                <a:cs typeface="+mn-lt"/>
              </a:rPr>
              <a:t>modèle</a:t>
            </a:r>
            <a:r>
              <a:rPr lang="en-US" sz="3200">
                <a:ea typeface="+mn-lt"/>
                <a:cs typeface="+mn-lt"/>
              </a:rPr>
              <a:t> de Datawarehouse </a:t>
            </a:r>
            <a:r>
              <a:rPr lang="en-US" sz="3200" err="1">
                <a:ea typeface="+mn-lt"/>
                <a:cs typeface="+mn-lt"/>
              </a:rPr>
              <a:t>que</a:t>
            </a:r>
            <a:r>
              <a:rPr lang="en-US" sz="3200">
                <a:ea typeface="+mn-lt"/>
                <a:cs typeface="+mn-lt"/>
              </a:rPr>
              <a:t> vous </a:t>
            </a:r>
            <a:r>
              <a:rPr lang="en-US" sz="3200" err="1">
                <a:ea typeface="+mn-lt"/>
                <a:cs typeface="+mn-lt"/>
              </a:rPr>
              <a:t>avez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conçu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précédemment</a:t>
            </a:r>
            <a:r>
              <a:rPr lang="en-US" sz="3200">
                <a:ea typeface="+mn-lt"/>
                <a:cs typeface="+mn-lt"/>
              </a:rPr>
              <a:t>, </a:t>
            </a:r>
            <a:r>
              <a:rPr lang="en-US" sz="3200" err="1">
                <a:ea typeface="+mn-lt"/>
                <a:cs typeface="+mn-lt"/>
              </a:rPr>
              <a:t>en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utilisant</a:t>
            </a:r>
            <a:r>
              <a:rPr lang="en-US" sz="3200">
                <a:ea typeface="+mn-lt"/>
                <a:cs typeface="+mn-lt"/>
              </a:rPr>
              <a:t> la </a:t>
            </a:r>
            <a:r>
              <a:rPr lang="en-US" sz="3200" err="1">
                <a:ea typeface="+mn-lt"/>
                <a:cs typeface="+mn-lt"/>
              </a:rPr>
              <a:t>formule</a:t>
            </a:r>
            <a:r>
              <a:rPr lang="en-US" sz="3200">
                <a:ea typeface="+mn-lt"/>
                <a:cs typeface="+mn-lt"/>
              </a:rPr>
              <a:t> DAX </a:t>
            </a:r>
            <a:r>
              <a:rPr lang="en-US" sz="3200" err="1">
                <a:ea typeface="+mn-lt"/>
                <a:cs typeface="+mn-lt"/>
              </a:rPr>
              <a:t>que</a:t>
            </a:r>
            <a:r>
              <a:rPr lang="en-US" sz="3200">
                <a:ea typeface="+mn-lt"/>
                <a:cs typeface="+mn-lt"/>
              </a:rPr>
              <a:t> vous </a:t>
            </a:r>
            <a:r>
              <a:rPr lang="en-US" sz="3200" err="1">
                <a:ea typeface="+mn-lt"/>
                <a:cs typeface="+mn-lt"/>
              </a:rPr>
              <a:t>avez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proposée</a:t>
            </a:r>
            <a:r>
              <a:rPr lang="en-US" sz="3200">
                <a:ea typeface="+mn-lt"/>
                <a:cs typeface="+mn-lt"/>
              </a:rPr>
              <a:t>.</a:t>
            </a:r>
            <a:endParaRPr lang="en-US"/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3200" err="1">
                <a:ea typeface="+mn-lt"/>
                <a:cs typeface="+mn-lt"/>
              </a:rPr>
              <a:t>Utiliser</a:t>
            </a:r>
            <a:r>
              <a:rPr lang="en-US" sz="3200">
                <a:ea typeface="+mn-lt"/>
                <a:cs typeface="+mn-lt"/>
              </a:rPr>
              <a:t> des techniques </a:t>
            </a:r>
            <a:r>
              <a:rPr lang="en-US" sz="3200" err="1">
                <a:ea typeface="+mn-lt"/>
                <a:cs typeface="+mn-lt"/>
              </a:rPr>
              <a:t>d’analyse</a:t>
            </a:r>
            <a:r>
              <a:rPr lang="en-US" sz="3200">
                <a:ea typeface="+mn-lt"/>
                <a:cs typeface="+mn-lt"/>
              </a:rPr>
              <a:t> de données et des </a:t>
            </a:r>
            <a:r>
              <a:rPr lang="en-US" sz="3200" err="1">
                <a:ea typeface="+mn-lt"/>
                <a:cs typeface="+mn-lt"/>
              </a:rPr>
              <a:t>visuels</a:t>
            </a:r>
            <a:r>
              <a:rPr lang="en-US" sz="3200">
                <a:ea typeface="+mn-lt"/>
                <a:cs typeface="+mn-lt"/>
              </a:rPr>
              <a:t> Power BI pour </a:t>
            </a:r>
            <a:r>
              <a:rPr lang="en-US" sz="3200" err="1">
                <a:ea typeface="+mn-lt"/>
                <a:cs typeface="+mn-lt"/>
              </a:rPr>
              <a:t>répondre</a:t>
            </a:r>
            <a:r>
              <a:rPr lang="en-US" sz="3200">
                <a:ea typeface="+mn-lt"/>
                <a:cs typeface="+mn-lt"/>
              </a:rPr>
              <a:t> aux exigences </a:t>
            </a:r>
            <a:r>
              <a:rPr lang="en-US" sz="3200" err="1">
                <a:ea typeface="+mn-lt"/>
                <a:cs typeface="+mn-lt"/>
              </a:rPr>
              <a:t>définies</a:t>
            </a:r>
            <a:r>
              <a:rPr lang="en-US" sz="3200">
                <a:ea typeface="+mn-lt"/>
                <a:cs typeface="+mn-lt"/>
              </a:rPr>
              <a:t> ci‑dessus.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84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5AF55-9C99-A0F8-3A62-6114A66D8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>
            <a:extLst>
              <a:ext uri="{FF2B5EF4-FFF2-40B4-BE49-F238E27FC236}">
                <a16:creationId xmlns:a16="http://schemas.microsoft.com/office/drawing/2014/main" id="{966A7029-1B3F-3258-C7CE-25191E526A9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B17E7B7-BCF8-4704-9E3D-2FA3729F2199}" type="slidenum">
              <a:rPr/>
              <a:t>7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EE8C83-0F2F-8FC6-1509-B70FBB38915C}"/>
              </a:ext>
            </a:extLst>
          </p:cNvPr>
          <p:cNvSpPr txBox="1"/>
          <p:nvPr/>
        </p:nvSpPr>
        <p:spPr>
          <a:xfrm>
            <a:off x="208547" y="137520"/>
            <a:ext cx="11774905" cy="36944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>
                <a:ea typeface="+mn-lt"/>
                <a:cs typeface="+mn-lt"/>
              </a:rPr>
              <a:t>Vous </a:t>
            </a:r>
            <a:r>
              <a:rPr lang="en-US" sz="3200" err="1">
                <a:ea typeface="+mn-lt"/>
                <a:cs typeface="+mn-lt"/>
              </a:rPr>
              <a:t>devez</a:t>
            </a:r>
            <a:r>
              <a:rPr lang="en-US" sz="3200">
                <a:ea typeface="+mn-lt"/>
                <a:cs typeface="+mn-lt"/>
              </a:rPr>
              <a:t> </a:t>
            </a:r>
            <a:r>
              <a:rPr lang="en-US" sz="3200" err="1">
                <a:ea typeface="+mn-lt"/>
                <a:cs typeface="+mn-lt"/>
              </a:rPr>
              <a:t>utiliser</a:t>
            </a:r>
            <a:r>
              <a:rPr lang="en-US" sz="3200">
                <a:ea typeface="+mn-lt"/>
                <a:cs typeface="+mn-lt"/>
              </a:rPr>
              <a:t> vos connaissances et vos compétences en Business Intelligence pour répondre efficacement aux exigences ci‑dessus.</a:t>
            </a:r>
            <a:endParaRPr lang="en-US"/>
          </a:p>
          <a:p>
            <a:pPr algn="just">
              <a:lnSpc>
                <a:spcPct val="150000"/>
              </a:lnSpc>
            </a:pPr>
            <a:r>
              <a:rPr lang="en-US" sz="3200">
                <a:ea typeface="+mn-lt"/>
                <a:cs typeface="+mn-lt"/>
              </a:rPr>
              <a:t>Le </a:t>
            </a:r>
            <a:r>
              <a:rPr lang="en-US" sz="3200" err="1">
                <a:ea typeface="+mn-lt"/>
                <a:cs typeface="+mn-lt"/>
              </a:rPr>
              <a:t>résultat</a:t>
            </a:r>
            <a:r>
              <a:rPr lang="en-US" sz="3200">
                <a:ea typeface="+mn-lt"/>
                <a:cs typeface="+mn-lt"/>
              </a:rPr>
              <a:t> de </a:t>
            </a:r>
            <a:r>
              <a:rPr lang="en-US" sz="3200" err="1">
                <a:ea typeface="+mn-lt"/>
                <a:cs typeface="+mn-lt"/>
              </a:rPr>
              <a:t>votre</a:t>
            </a:r>
            <a:r>
              <a:rPr lang="en-US" sz="3200">
                <a:ea typeface="+mn-lt"/>
                <a:cs typeface="+mn-lt"/>
              </a:rPr>
              <a:t> travail doit </a:t>
            </a:r>
            <a:r>
              <a:rPr lang="en-US" sz="3200" err="1">
                <a:ea typeface="+mn-lt"/>
                <a:cs typeface="+mn-lt"/>
              </a:rPr>
              <a:t>être</a:t>
            </a:r>
            <a:r>
              <a:rPr lang="en-US" sz="3200">
                <a:ea typeface="+mn-lt"/>
                <a:cs typeface="+mn-lt"/>
              </a:rPr>
              <a:t> un rapport Power BI multi‑pages qui </a:t>
            </a:r>
            <a:r>
              <a:rPr lang="en-US" sz="3200" err="1">
                <a:ea typeface="+mn-lt"/>
                <a:cs typeface="+mn-lt"/>
              </a:rPr>
              <a:t>satisfait</a:t>
            </a:r>
            <a:r>
              <a:rPr lang="en-US" sz="3200">
                <a:ea typeface="+mn-lt"/>
                <a:cs typeface="+mn-lt"/>
              </a:rPr>
              <a:t> aux exigences définies.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0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7669-CFB0-AEC4-65FC-64D88457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8768"/>
            <a:ext cx="10515600" cy="1906134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Resources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76AFE-640E-7E3E-00E0-1304A1D7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DA528-11FB-1935-A6A7-41A0F4E2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18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76AFE-640E-7E3E-00E0-1304A1D7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9386" y="6356350"/>
            <a:ext cx="5112657" cy="365125"/>
          </a:xfrm>
        </p:spPr>
        <p:txBody>
          <a:bodyPr/>
          <a:lstStyle/>
          <a:p>
            <a:r>
              <a:rPr lang="en-US">
                <a:solidFill>
                  <a:srgbClr val="FA884B"/>
                </a:solidFill>
              </a:rPr>
              <a:t>Data Integration and Warehousing Assessment - FOUOTSOP FOSSO  PATRICK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DA528-11FB-1935-A6A7-41A0F4E2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76FFB8-B857-45A3-48EA-7BDD35C3B46B}"/>
              </a:ext>
            </a:extLst>
          </p:cNvPr>
          <p:cNvSpPr txBox="1"/>
          <p:nvPr/>
        </p:nvSpPr>
        <p:spPr>
          <a:xfrm>
            <a:off x="856848" y="2113948"/>
            <a:ext cx="10847760" cy="13228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The dataset is available at : </a:t>
            </a:r>
            <a:r>
              <a:rPr lang="en-CM" sz="2800">
                <a:hlinkClick r:id="rId2"/>
              </a:rPr>
              <a:t>FIFA World Cup Complete Dataset: 1930–2026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602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7669-CFB0-AEC4-65FC-64D88457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8768"/>
            <a:ext cx="10515600" cy="1906134"/>
          </a:xfrm>
        </p:spPr>
        <p:txBody>
          <a:bodyPr>
            <a:normAutofit/>
          </a:bodyPr>
          <a:lstStyle/>
          <a:p>
            <a:pPr algn="ctr"/>
            <a:r>
              <a:rPr lang="en-US" sz="5400" b="1"/>
              <a:t>GOOD LUCK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276AFE-640E-7E3E-00E0-1304A1D7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Integration and Warehousing Assessment - FOUOTSOP FOSSO  PATRICK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DA528-11FB-1935-A6A7-41A0F4E2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67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</TotalTime>
  <Words>410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1_Office Theme</vt:lpstr>
      <vt:lpstr>PowerPoint Presentation</vt:lpstr>
      <vt:lpstr>Objectif</vt:lpstr>
      <vt:lpstr>Objectif</vt:lpstr>
      <vt:lpstr>Description des données</vt:lpstr>
      <vt:lpstr>Exigences</vt:lpstr>
      <vt:lpstr>Analyse et visualisation des données</vt:lpstr>
      <vt:lpstr>PowerPoint Presentation</vt:lpstr>
      <vt:lpstr>Resources</vt:lpstr>
      <vt:lpstr>PowerPoint Presentation</vt:lpstr>
      <vt:lpstr>GOOD LUCK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fouotsop fosso</dc:creator>
  <cp:lastModifiedBy>patrick fouotsop fosso</cp:lastModifiedBy>
  <cp:revision>848</cp:revision>
  <dcterms:created xsi:type="dcterms:W3CDTF">2024-10-03T00:17:11Z</dcterms:created>
  <dcterms:modified xsi:type="dcterms:W3CDTF">2026-06-09T16:23:29Z</dcterms:modified>
</cp:coreProperties>
</file>