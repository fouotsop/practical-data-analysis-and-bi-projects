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sldIdLst>
    <p:sldId id="256" r:id="rId3"/>
    <p:sldId id="304" r:id="rId4"/>
    <p:sldId id="316" r:id="rId5"/>
    <p:sldId id="293" r:id="rId6"/>
    <p:sldId id="301" r:id="rId7"/>
    <p:sldId id="322" r:id="rId8"/>
    <p:sldId id="325" r:id="rId9"/>
    <p:sldId id="32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884B"/>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101"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6/9/2026</a:t>
            </a:fld>
            <a:endParaRPr lang="en-US"/>
          </a:p>
        </p:txBody>
      </p:sp>
      <p:sp>
        <p:nvSpPr>
          <p:cNvPr id="5" name="Footer Placeholder 4"/>
          <p:cNvSpPr>
            <a:spLocks noGrp="1"/>
          </p:cNvSpPr>
          <p:nvPr>
            <p:ph type="ftr" sz="quarter" idx="11"/>
          </p:nvPr>
        </p:nvSpPr>
        <p:spPr/>
        <p:txBody>
          <a:bodyPr/>
          <a:lstStyle/>
          <a:p>
            <a:r>
              <a:rPr lang="en-US"/>
              <a:t>Data Integration and Warehousing Assessment - FOUOTSOP FOSSO  PATRICK</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6/9/2026</a:t>
            </a:fld>
            <a:endParaRPr lang="en-US"/>
          </a:p>
        </p:txBody>
      </p:sp>
      <p:sp>
        <p:nvSpPr>
          <p:cNvPr id="5" name="Footer Placeholder 4"/>
          <p:cNvSpPr>
            <a:spLocks noGrp="1"/>
          </p:cNvSpPr>
          <p:nvPr>
            <p:ph type="ftr" sz="quarter" idx="11"/>
          </p:nvPr>
        </p:nvSpPr>
        <p:spPr/>
        <p:txBody>
          <a:bodyPr/>
          <a:lstStyle/>
          <a:p>
            <a:r>
              <a:rPr lang="en-US"/>
              <a:t>Data Integration and Warehousing Assessment - FOUOTSOP FOSSO  PATRICK</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6/9/2026</a:t>
            </a:fld>
            <a:endParaRPr lang="en-US"/>
          </a:p>
        </p:txBody>
      </p:sp>
      <p:sp>
        <p:nvSpPr>
          <p:cNvPr id="5" name="Footer Placeholder 4"/>
          <p:cNvSpPr>
            <a:spLocks noGrp="1"/>
          </p:cNvSpPr>
          <p:nvPr>
            <p:ph type="ftr" sz="quarter" idx="11"/>
          </p:nvPr>
        </p:nvSpPr>
        <p:spPr/>
        <p:txBody>
          <a:bodyPr/>
          <a:lstStyle/>
          <a:p>
            <a:r>
              <a:rPr lang="en-US"/>
              <a:t>Data Integration and Warehousing Assessment - FOUOTSOP FOSSO  PATRICK</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6/9/2026</a:t>
            </a:fld>
            <a:endParaRPr lang="en-US"/>
          </a:p>
        </p:txBody>
      </p:sp>
      <p:sp>
        <p:nvSpPr>
          <p:cNvPr id="6" name="Footer Placeholder 5"/>
          <p:cNvSpPr>
            <a:spLocks noGrp="1"/>
          </p:cNvSpPr>
          <p:nvPr>
            <p:ph type="ftr" sz="quarter" idx="11"/>
          </p:nvPr>
        </p:nvSpPr>
        <p:spPr/>
        <p:txBody>
          <a:bodyPr/>
          <a:lstStyle/>
          <a:p>
            <a:r>
              <a:rPr lang="en-US"/>
              <a:t>Data Integration and Warehousing Assessment - FOUOTSOP FOSSO  PATRICK</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6/9/2026</a:t>
            </a:fld>
            <a:endParaRPr lang="en-US"/>
          </a:p>
        </p:txBody>
      </p:sp>
      <p:sp>
        <p:nvSpPr>
          <p:cNvPr id="8" name="Footer Placeholder 7"/>
          <p:cNvSpPr>
            <a:spLocks noGrp="1"/>
          </p:cNvSpPr>
          <p:nvPr>
            <p:ph type="ftr" sz="quarter" idx="11"/>
          </p:nvPr>
        </p:nvSpPr>
        <p:spPr/>
        <p:txBody>
          <a:bodyPr/>
          <a:lstStyle/>
          <a:p>
            <a:r>
              <a:rPr lang="en-US"/>
              <a:t>Data Integration and Warehousing Assessment - FOUOTSOP FOSSO  PATRICK</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6/9/2026</a:t>
            </a:fld>
            <a:endParaRPr lang="en-US"/>
          </a:p>
        </p:txBody>
      </p:sp>
      <p:sp>
        <p:nvSpPr>
          <p:cNvPr id="4" name="Footer Placeholder 3"/>
          <p:cNvSpPr>
            <a:spLocks noGrp="1"/>
          </p:cNvSpPr>
          <p:nvPr>
            <p:ph type="ftr" sz="quarter" idx="11"/>
          </p:nvPr>
        </p:nvSpPr>
        <p:spPr/>
        <p:txBody>
          <a:bodyPr/>
          <a:lstStyle/>
          <a:p>
            <a:r>
              <a:rPr lang="en-US"/>
              <a:t>Data Integration and Warehousing Assessment - FOUOTSOP FOSSO  PATRICK</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6/9/2026</a:t>
            </a:fld>
            <a:endParaRPr lang="en-US"/>
          </a:p>
        </p:txBody>
      </p:sp>
      <p:sp>
        <p:nvSpPr>
          <p:cNvPr id="3" name="Footer Placeholder 2"/>
          <p:cNvSpPr>
            <a:spLocks noGrp="1"/>
          </p:cNvSpPr>
          <p:nvPr>
            <p:ph type="ftr" sz="quarter" idx="11"/>
          </p:nvPr>
        </p:nvSpPr>
        <p:spPr/>
        <p:txBody>
          <a:bodyPr/>
          <a:lstStyle/>
          <a:p>
            <a:r>
              <a:rPr lang="en-US"/>
              <a:t>Data Integration and Warehousing Assessment - FOUOTSOP FOSSO  PATRICK</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6/9/2026</a:t>
            </a:fld>
            <a:endParaRPr lang="en-US"/>
          </a:p>
        </p:txBody>
      </p:sp>
      <p:sp>
        <p:nvSpPr>
          <p:cNvPr id="6" name="Footer Placeholder 5"/>
          <p:cNvSpPr>
            <a:spLocks noGrp="1"/>
          </p:cNvSpPr>
          <p:nvPr>
            <p:ph type="ftr" sz="quarter" idx="11"/>
          </p:nvPr>
        </p:nvSpPr>
        <p:spPr/>
        <p:txBody>
          <a:bodyPr/>
          <a:lstStyle/>
          <a:p>
            <a:r>
              <a:rPr lang="en-US"/>
              <a:t>Data Integration and Warehousing Assessment - FOUOTSOP FOSSO  PATRICK</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6/9/2026</a:t>
            </a:fld>
            <a:endParaRPr lang="en-US"/>
          </a:p>
        </p:txBody>
      </p:sp>
      <p:sp>
        <p:nvSpPr>
          <p:cNvPr id="6" name="Footer Placeholder 5"/>
          <p:cNvSpPr>
            <a:spLocks noGrp="1"/>
          </p:cNvSpPr>
          <p:nvPr>
            <p:ph type="ftr" sz="quarter" idx="11"/>
          </p:nvPr>
        </p:nvSpPr>
        <p:spPr/>
        <p:txBody>
          <a:bodyPr/>
          <a:lstStyle/>
          <a:p>
            <a:r>
              <a:rPr lang="en-US"/>
              <a:t>Data Integration and Warehousing Assessment - FOUOTSOP FOSSO  PATRICK</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6/9/2026</a:t>
            </a:fld>
            <a:endParaRPr lang="en-US"/>
          </a:p>
        </p:txBody>
      </p:sp>
      <p:sp>
        <p:nvSpPr>
          <p:cNvPr id="5" name="Footer Placeholder 4"/>
          <p:cNvSpPr>
            <a:spLocks noGrp="1"/>
          </p:cNvSpPr>
          <p:nvPr>
            <p:ph type="ftr" sz="quarter" idx="11"/>
          </p:nvPr>
        </p:nvSpPr>
        <p:spPr/>
        <p:txBody>
          <a:bodyPr/>
          <a:lstStyle/>
          <a:p>
            <a:r>
              <a:rPr lang="en-US"/>
              <a:t>Data Integration and Warehousing Assessment - FOUOTSOP FOSSO  PATRICK</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6/9/2026</a:t>
            </a:fld>
            <a:endParaRPr lang="en-US"/>
          </a:p>
        </p:txBody>
      </p:sp>
      <p:sp>
        <p:nvSpPr>
          <p:cNvPr id="5" name="Footer Placeholder 4"/>
          <p:cNvSpPr>
            <a:spLocks noGrp="1"/>
          </p:cNvSpPr>
          <p:nvPr>
            <p:ph type="ftr" sz="quarter" idx="11"/>
          </p:nvPr>
        </p:nvSpPr>
        <p:spPr/>
        <p:txBody>
          <a:bodyPr/>
          <a:lstStyle/>
          <a:p>
            <a:r>
              <a:rPr lang="en-US"/>
              <a:t>Data Integration and Warehousing Assessment - FOUOTSOP FOSSO  PATRICK</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rPr lang="en-US"/>
              <a:t>ASSESSMENT TO DATA ANALYSIS AND BI - FOUOTSOP FOSSO PATRICK</a:t>
            </a:r>
            <a:endParaRPr/>
          </a:p>
        </p:txBody>
      </p:sp>
      <p:sp>
        <p:nvSpPr>
          <p:cNvPr id="3" name="PlaceHolder 2"/>
          <p:cNvSpPr>
            <a:spLocks noGrp="1"/>
          </p:cNvSpPr>
          <p:nvPr>
            <p:ph type="sldNum" idx="5"/>
          </p:nvPr>
        </p:nvSpPr>
        <p:spPr/>
        <p:txBody>
          <a:bodyPr/>
          <a:lstStyle/>
          <a:p>
            <a:fld id="{251B6025-BD3B-4F60-AF55-76D0435C51FF}" type="slidenum">
              <a:t>‹#›</a:t>
            </a:fld>
            <a:endParaRPr/>
          </a:p>
        </p:txBody>
      </p:sp>
      <p:sp>
        <p:nvSpPr>
          <p:cNvPr id="4" name="PlaceHolder 3"/>
          <p:cNvSpPr>
            <a:spLocks noGrp="1"/>
          </p:cNvSpPr>
          <p:nvPr>
            <p:ph type="dt" idx="6"/>
          </p:nvPr>
        </p:nvSpPr>
        <p:spPr/>
        <p:txBody>
          <a:bodyPr/>
          <a:lstStyle/>
          <a:p>
            <a:endParaRPr/>
          </a:p>
        </p:txBody>
      </p:sp>
    </p:spTree>
    <p:extLst>
      <p:ext uri="{BB962C8B-B14F-4D97-AF65-F5344CB8AC3E}">
        <p14:creationId xmlns:p14="http://schemas.microsoft.com/office/powerpoint/2010/main" val="37709442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7"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4"/>
          </p:nvPr>
        </p:nvSpPr>
        <p:spPr/>
        <p:txBody>
          <a:bodyPr/>
          <a:lstStyle/>
          <a:p>
            <a:r>
              <a:rPr lang="en-US"/>
              <a:t>ASSESSMENT TO DATA ANALYSIS AND BI - FOUOTSOP FOSSO PATRICK</a:t>
            </a:r>
            <a:endParaRPr/>
          </a:p>
        </p:txBody>
      </p:sp>
      <p:sp>
        <p:nvSpPr>
          <p:cNvPr id="5" name="PlaceHolder 4"/>
          <p:cNvSpPr>
            <a:spLocks noGrp="1"/>
          </p:cNvSpPr>
          <p:nvPr>
            <p:ph type="sldNum" idx="5"/>
          </p:nvPr>
        </p:nvSpPr>
        <p:spPr/>
        <p:txBody>
          <a:bodyPr/>
          <a:lstStyle/>
          <a:p>
            <a:fld id="{45C7FD21-836B-4760-A11D-B28FF9B72DB7}" type="slidenum">
              <a:t>‹#›</a:t>
            </a:fld>
            <a:endParaRPr/>
          </a:p>
        </p:txBody>
      </p:sp>
      <p:sp>
        <p:nvSpPr>
          <p:cNvPr id="6" name="PlaceHolder 5"/>
          <p:cNvSpPr>
            <a:spLocks noGrp="1"/>
          </p:cNvSpPr>
          <p:nvPr>
            <p:ph type="dt" idx="6"/>
          </p:nvPr>
        </p:nvSpPr>
        <p:spPr/>
        <p:txBody>
          <a:bodyPr/>
          <a:lstStyle/>
          <a:p>
            <a:endParaRPr/>
          </a:p>
        </p:txBody>
      </p:sp>
    </p:spTree>
    <p:extLst>
      <p:ext uri="{BB962C8B-B14F-4D97-AF65-F5344CB8AC3E}">
        <p14:creationId xmlns:p14="http://schemas.microsoft.com/office/powerpoint/2010/main" val="35896170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9"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ftr" idx="4"/>
          </p:nvPr>
        </p:nvSpPr>
        <p:spPr/>
        <p:txBody>
          <a:bodyPr/>
          <a:lstStyle/>
          <a:p>
            <a:r>
              <a:rPr lang="en-US"/>
              <a:t>ASSESSMENT TO DATA ANALYSIS AND BI - FOUOTSOP FOSSO PATRICK</a:t>
            </a:r>
            <a:endParaRPr/>
          </a:p>
        </p:txBody>
      </p:sp>
      <p:sp>
        <p:nvSpPr>
          <p:cNvPr id="5" name="PlaceHolder 4"/>
          <p:cNvSpPr>
            <a:spLocks noGrp="1"/>
          </p:cNvSpPr>
          <p:nvPr>
            <p:ph type="sldNum" idx="5"/>
          </p:nvPr>
        </p:nvSpPr>
        <p:spPr/>
        <p:txBody>
          <a:bodyPr/>
          <a:lstStyle/>
          <a:p>
            <a:fld id="{B0E6805A-8396-428A-9203-86686067FE41}" type="slidenum">
              <a:t>‹#›</a:t>
            </a:fld>
            <a:endParaRPr/>
          </a:p>
        </p:txBody>
      </p:sp>
      <p:sp>
        <p:nvSpPr>
          <p:cNvPr id="6" name="PlaceHolder 5"/>
          <p:cNvSpPr>
            <a:spLocks noGrp="1"/>
          </p:cNvSpPr>
          <p:nvPr>
            <p:ph type="dt" idx="6"/>
          </p:nvPr>
        </p:nvSpPr>
        <p:spPr/>
        <p:txBody>
          <a:bodyPr/>
          <a:lstStyle/>
          <a:p>
            <a:endParaRPr/>
          </a:p>
        </p:txBody>
      </p:sp>
    </p:spTree>
    <p:extLst>
      <p:ext uri="{BB962C8B-B14F-4D97-AF65-F5344CB8AC3E}">
        <p14:creationId xmlns:p14="http://schemas.microsoft.com/office/powerpoint/2010/main" val="16304400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4"/>
          </p:nvPr>
        </p:nvSpPr>
        <p:spPr/>
        <p:txBody>
          <a:bodyPr/>
          <a:lstStyle/>
          <a:p>
            <a:r>
              <a:rPr lang="en-US"/>
              <a:t>ASSESSMENT TO DATA ANALYSIS AND BI - FOUOTSOP FOSSO PATRICK</a:t>
            </a:r>
            <a:endParaRPr/>
          </a:p>
        </p:txBody>
      </p:sp>
      <p:sp>
        <p:nvSpPr>
          <p:cNvPr id="6" name="PlaceHolder 5"/>
          <p:cNvSpPr>
            <a:spLocks noGrp="1"/>
          </p:cNvSpPr>
          <p:nvPr>
            <p:ph type="sldNum" idx="5"/>
          </p:nvPr>
        </p:nvSpPr>
        <p:spPr/>
        <p:txBody>
          <a:bodyPr/>
          <a:lstStyle/>
          <a:p>
            <a:fld id="{4FE4F24B-127C-48E9-AAA3-ED557BC532C6}" type="slidenum">
              <a:t>‹#›</a:t>
            </a:fld>
            <a:endParaRPr/>
          </a:p>
        </p:txBody>
      </p:sp>
      <p:sp>
        <p:nvSpPr>
          <p:cNvPr id="7" name="PlaceHolder 6"/>
          <p:cNvSpPr>
            <a:spLocks noGrp="1"/>
          </p:cNvSpPr>
          <p:nvPr>
            <p:ph type="dt" idx="6"/>
          </p:nvPr>
        </p:nvSpPr>
        <p:spPr/>
        <p:txBody>
          <a:bodyPr/>
          <a:lstStyle/>
          <a:p>
            <a:endParaRPr/>
          </a:p>
        </p:txBody>
      </p:sp>
    </p:spTree>
    <p:extLst>
      <p:ext uri="{BB962C8B-B14F-4D97-AF65-F5344CB8AC3E}">
        <p14:creationId xmlns:p14="http://schemas.microsoft.com/office/powerpoint/2010/main" val="1867202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ftr" idx="4"/>
          </p:nvPr>
        </p:nvSpPr>
        <p:spPr/>
        <p:txBody>
          <a:bodyPr/>
          <a:lstStyle/>
          <a:p>
            <a:r>
              <a:rPr lang="en-US"/>
              <a:t>ASSESSMENT TO DATA ANALYSIS AND BI - FOUOTSOP FOSSO PATRICK</a:t>
            </a:r>
            <a:endParaRPr/>
          </a:p>
        </p:txBody>
      </p:sp>
      <p:sp>
        <p:nvSpPr>
          <p:cNvPr id="4" name="PlaceHolder 3"/>
          <p:cNvSpPr>
            <a:spLocks noGrp="1"/>
          </p:cNvSpPr>
          <p:nvPr>
            <p:ph type="sldNum" idx="5"/>
          </p:nvPr>
        </p:nvSpPr>
        <p:spPr/>
        <p:txBody>
          <a:bodyPr/>
          <a:lstStyle/>
          <a:p>
            <a:fld id="{AEFC5F7B-12A7-4BA5-B4E8-F47CBBAF0B79}" type="slidenum">
              <a:t>‹#›</a:t>
            </a:fld>
            <a:endParaRPr/>
          </a:p>
        </p:txBody>
      </p:sp>
      <p:sp>
        <p:nvSpPr>
          <p:cNvPr id="5" name="PlaceHolder 4"/>
          <p:cNvSpPr>
            <a:spLocks noGrp="1"/>
          </p:cNvSpPr>
          <p:nvPr>
            <p:ph type="dt" idx="6"/>
          </p:nvPr>
        </p:nvSpPr>
        <p:spPr/>
        <p:txBody>
          <a:bodyPr/>
          <a:lstStyle/>
          <a:p>
            <a:endParaRPr/>
          </a:p>
        </p:txBody>
      </p:sp>
    </p:spTree>
    <p:extLst>
      <p:ext uri="{BB962C8B-B14F-4D97-AF65-F5344CB8AC3E}">
        <p14:creationId xmlns:p14="http://schemas.microsoft.com/office/powerpoint/2010/main" val="454943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4"/>
          </p:nvPr>
        </p:nvSpPr>
        <p:spPr/>
        <p:txBody>
          <a:bodyPr/>
          <a:lstStyle/>
          <a:p>
            <a:r>
              <a:rPr lang="en-US"/>
              <a:t>ASSESSMENT TO DATA ANALYSIS AND BI - FOUOTSOP FOSSO PATRICK</a:t>
            </a:r>
            <a:endParaRPr/>
          </a:p>
        </p:txBody>
      </p:sp>
      <p:sp>
        <p:nvSpPr>
          <p:cNvPr id="4" name="PlaceHolder 3"/>
          <p:cNvSpPr>
            <a:spLocks noGrp="1"/>
          </p:cNvSpPr>
          <p:nvPr>
            <p:ph type="sldNum" idx="5"/>
          </p:nvPr>
        </p:nvSpPr>
        <p:spPr/>
        <p:txBody>
          <a:bodyPr/>
          <a:lstStyle/>
          <a:p>
            <a:fld id="{D9F3D515-A1CB-4F07-9A8F-3CF07ABE9127}" type="slidenum">
              <a:t>‹#›</a:t>
            </a:fld>
            <a:endParaRPr/>
          </a:p>
        </p:txBody>
      </p:sp>
      <p:sp>
        <p:nvSpPr>
          <p:cNvPr id="5" name="PlaceHolder 4"/>
          <p:cNvSpPr>
            <a:spLocks noGrp="1"/>
          </p:cNvSpPr>
          <p:nvPr>
            <p:ph type="dt" idx="6"/>
          </p:nvPr>
        </p:nvSpPr>
        <p:spPr/>
        <p:txBody>
          <a:bodyPr/>
          <a:lstStyle/>
          <a:p>
            <a:endParaRPr/>
          </a:p>
        </p:txBody>
      </p:sp>
    </p:spTree>
    <p:extLst>
      <p:ext uri="{BB962C8B-B14F-4D97-AF65-F5344CB8AC3E}">
        <p14:creationId xmlns:p14="http://schemas.microsoft.com/office/powerpoint/2010/main" val="34780180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7"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8"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rPr lang="en-US"/>
              <a:t>ASSESSMENT TO DATA ANALYSIS AND BI - FOUOTSOP FOSSO PATRICK</a:t>
            </a:r>
            <a:endParaRPr/>
          </a:p>
        </p:txBody>
      </p:sp>
      <p:sp>
        <p:nvSpPr>
          <p:cNvPr id="7" name="PlaceHolder 6"/>
          <p:cNvSpPr>
            <a:spLocks noGrp="1"/>
          </p:cNvSpPr>
          <p:nvPr>
            <p:ph type="sldNum" idx="5"/>
          </p:nvPr>
        </p:nvSpPr>
        <p:spPr/>
        <p:txBody>
          <a:bodyPr/>
          <a:lstStyle/>
          <a:p>
            <a:fld id="{A67F5E1F-E6F2-4519-9C0D-859178309B0F}" type="slidenum">
              <a:t>‹#›</a:t>
            </a:fld>
            <a:endParaRPr/>
          </a:p>
        </p:txBody>
      </p:sp>
      <p:sp>
        <p:nvSpPr>
          <p:cNvPr id="8" name="PlaceHolder 7"/>
          <p:cNvSpPr>
            <a:spLocks noGrp="1"/>
          </p:cNvSpPr>
          <p:nvPr>
            <p:ph type="dt" idx="6"/>
          </p:nvPr>
        </p:nvSpPr>
        <p:spPr/>
        <p:txBody>
          <a:bodyPr/>
          <a:lstStyle/>
          <a:p>
            <a:endParaRPr/>
          </a:p>
        </p:txBody>
      </p:sp>
    </p:spTree>
    <p:extLst>
      <p:ext uri="{BB962C8B-B14F-4D97-AF65-F5344CB8AC3E}">
        <p14:creationId xmlns:p14="http://schemas.microsoft.com/office/powerpoint/2010/main" val="38561227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0"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2"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rPr lang="en-US"/>
              <a:t>ASSESSMENT TO DATA ANALYSIS AND BI - FOUOTSOP FOSSO PATRICK</a:t>
            </a:r>
            <a:endParaRPr/>
          </a:p>
        </p:txBody>
      </p:sp>
      <p:sp>
        <p:nvSpPr>
          <p:cNvPr id="7" name="PlaceHolder 6"/>
          <p:cNvSpPr>
            <a:spLocks noGrp="1"/>
          </p:cNvSpPr>
          <p:nvPr>
            <p:ph type="sldNum" idx="5"/>
          </p:nvPr>
        </p:nvSpPr>
        <p:spPr/>
        <p:txBody>
          <a:bodyPr/>
          <a:lstStyle/>
          <a:p>
            <a:fld id="{0EFE1D29-1024-45E0-8931-1DAD84709040}" type="slidenum">
              <a:t>‹#›</a:t>
            </a:fld>
            <a:endParaRPr/>
          </a:p>
        </p:txBody>
      </p:sp>
      <p:sp>
        <p:nvSpPr>
          <p:cNvPr id="8" name="PlaceHolder 7"/>
          <p:cNvSpPr>
            <a:spLocks noGrp="1"/>
          </p:cNvSpPr>
          <p:nvPr>
            <p:ph type="dt" idx="6"/>
          </p:nvPr>
        </p:nvSpPr>
        <p:spPr/>
        <p:txBody>
          <a:bodyPr/>
          <a:lstStyle/>
          <a:p>
            <a:endParaRPr/>
          </a:p>
        </p:txBody>
      </p:sp>
    </p:spTree>
    <p:extLst>
      <p:ext uri="{BB962C8B-B14F-4D97-AF65-F5344CB8AC3E}">
        <p14:creationId xmlns:p14="http://schemas.microsoft.com/office/powerpoint/2010/main" val="19382891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4"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6"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rPr lang="en-US"/>
              <a:t>ASSESSMENT TO DATA ANALYSIS AND BI - FOUOTSOP FOSSO PATRICK</a:t>
            </a:r>
            <a:endParaRPr/>
          </a:p>
        </p:txBody>
      </p:sp>
      <p:sp>
        <p:nvSpPr>
          <p:cNvPr id="7" name="PlaceHolder 6"/>
          <p:cNvSpPr>
            <a:spLocks noGrp="1"/>
          </p:cNvSpPr>
          <p:nvPr>
            <p:ph type="sldNum" idx="5"/>
          </p:nvPr>
        </p:nvSpPr>
        <p:spPr/>
        <p:txBody>
          <a:bodyPr/>
          <a:lstStyle/>
          <a:p>
            <a:fld id="{5202649C-5B75-41B5-BD1E-5AC71FA0A10A}" type="slidenum">
              <a:t>‹#›</a:t>
            </a:fld>
            <a:endParaRPr/>
          </a:p>
        </p:txBody>
      </p:sp>
      <p:sp>
        <p:nvSpPr>
          <p:cNvPr id="8" name="PlaceHolder 7"/>
          <p:cNvSpPr>
            <a:spLocks noGrp="1"/>
          </p:cNvSpPr>
          <p:nvPr>
            <p:ph type="dt" idx="6"/>
          </p:nvPr>
        </p:nvSpPr>
        <p:spPr/>
        <p:txBody>
          <a:bodyPr/>
          <a:lstStyle/>
          <a:p>
            <a:endParaRPr/>
          </a:p>
        </p:txBody>
      </p:sp>
    </p:spTree>
    <p:extLst>
      <p:ext uri="{BB962C8B-B14F-4D97-AF65-F5344CB8AC3E}">
        <p14:creationId xmlns:p14="http://schemas.microsoft.com/office/powerpoint/2010/main" val="40736955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8"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9"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4"/>
          </p:nvPr>
        </p:nvSpPr>
        <p:spPr/>
        <p:txBody>
          <a:bodyPr/>
          <a:lstStyle/>
          <a:p>
            <a:r>
              <a:rPr lang="en-US"/>
              <a:t>ASSESSMENT TO DATA ANALYSIS AND BI - FOUOTSOP FOSSO PATRICK</a:t>
            </a:r>
            <a:endParaRPr/>
          </a:p>
        </p:txBody>
      </p:sp>
      <p:sp>
        <p:nvSpPr>
          <p:cNvPr id="6" name="PlaceHolder 5"/>
          <p:cNvSpPr>
            <a:spLocks noGrp="1"/>
          </p:cNvSpPr>
          <p:nvPr>
            <p:ph type="sldNum" idx="5"/>
          </p:nvPr>
        </p:nvSpPr>
        <p:spPr/>
        <p:txBody>
          <a:bodyPr/>
          <a:lstStyle/>
          <a:p>
            <a:fld id="{D15F05F0-2147-4F08-985C-E0953BEB734D}" type="slidenum">
              <a:t>‹#›</a:t>
            </a:fld>
            <a:endParaRPr/>
          </a:p>
        </p:txBody>
      </p:sp>
      <p:sp>
        <p:nvSpPr>
          <p:cNvPr id="7" name="PlaceHolder 6"/>
          <p:cNvSpPr>
            <a:spLocks noGrp="1"/>
          </p:cNvSpPr>
          <p:nvPr>
            <p:ph type="dt" idx="6"/>
          </p:nvPr>
        </p:nvSpPr>
        <p:spPr/>
        <p:txBody>
          <a:bodyPr/>
          <a:lstStyle/>
          <a:p>
            <a:endParaRPr/>
          </a:p>
        </p:txBody>
      </p:sp>
    </p:spTree>
    <p:extLst>
      <p:ext uri="{BB962C8B-B14F-4D97-AF65-F5344CB8AC3E}">
        <p14:creationId xmlns:p14="http://schemas.microsoft.com/office/powerpoint/2010/main" val="39985075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3"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4"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ftr" idx="4"/>
          </p:nvPr>
        </p:nvSpPr>
        <p:spPr/>
        <p:txBody>
          <a:bodyPr/>
          <a:lstStyle/>
          <a:p>
            <a:r>
              <a:rPr lang="en-US"/>
              <a:t>ASSESSMENT TO DATA ANALYSIS AND BI - FOUOTSOP FOSSO PATRICK</a:t>
            </a:r>
            <a:endParaRPr/>
          </a:p>
        </p:txBody>
      </p:sp>
      <p:sp>
        <p:nvSpPr>
          <p:cNvPr id="8" name="PlaceHolder 7"/>
          <p:cNvSpPr>
            <a:spLocks noGrp="1"/>
          </p:cNvSpPr>
          <p:nvPr>
            <p:ph type="sldNum" idx="5"/>
          </p:nvPr>
        </p:nvSpPr>
        <p:spPr/>
        <p:txBody>
          <a:bodyPr/>
          <a:lstStyle/>
          <a:p>
            <a:fld id="{B6E42845-E3F6-4228-A5C3-03E7C188788C}" type="slidenum">
              <a:t>‹#›</a:t>
            </a:fld>
            <a:endParaRPr/>
          </a:p>
        </p:txBody>
      </p:sp>
      <p:sp>
        <p:nvSpPr>
          <p:cNvPr id="9" name="PlaceHolder 8"/>
          <p:cNvSpPr>
            <a:spLocks noGrp="1"/>
          </p:cNvSpPr>
          <p:nvPr>
            <p:ph type="dt" idx="6"/>
          </p:nvPr>
        </p:nvSpPr>
        <p:spPr/>
        <p:txBody>
          <a:bodyPr/>
          <a:lstStyle/>
          <a:p>
            <a:endParaRPr/>
          </a:p>
        </p:txBody>
      </p:sp>
    </p:spTree>
    <p:extLst>
      <p:ext uri="{BB962C8B-B14F-4D97-AF65-F5344CB8AC3E}">
        <p14:creationId xmlns:p14="http://schemas.microsoft.com/office/powerpoint/2010/main" val="41827418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6"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7"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8"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9"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0"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1"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ftr" idx="4"/>
          </p:nvPr>
        </p:nvSpPr>
        <p:spPr/>
        <p:txBody>
          <a:bodyPr/>
          <a:lstStyle/>
          <a:p>
            <a:r>
              <a:rPr lang="en-US"/>
              <a:t>ASSESSMENT TO DATA ANALYSIS AND BI - FOUOTSOP FOSSO PATRICK</a:t>
            </a:r>
            <a:endParaRPr/>
          </a:p>
        </p:txBody>
      </p:sp>
      <p:sp>
        <p:nvSpPr>
          <p:cNvPr id="10" name="PlaceHolder 9"/>
          <p:cNvSpPr>
            <a:spLocks noGrp="1"/>
          </p:cNvSpPr>
          <p:nvPr>
            <p:ph type="sldNum" idx="5"/>
          </p:nvPr>
        </p:nvSpPr>
        <p:spPr/>
        <p:txBody>
          <a:bodyPr/>
          <a:lstStyle/>
          <a:p>
            <a:fld id="{9267413E-0343-454F-995C-BFA91137224E}" type="slidenum">
              <a:t>‹#›</a:t>
            </a:fld>
            <a:endParaRPr/>
          </a:p>
        </p:txBody>
      </p:sp>
      <p:sp>
        <p:nvSpPr>
          <p:cNvPr id="11" name="PlaceHolder 10"/>
          <p:cNvSpPr>
            <a:spLocks noGrp="1"/>
          </p:cNvSpPr>
          <p:nvPr>
            <p:ph type="dt" idx="6"/>
          </p:nvPr>
        </p:nvSpPr>
        <p:spPr/>
        <p:txBody>
          <a:bodyPr/>
          <a:lstStyle/>
          <a:p>
            <a:endParaRPr/>
          </a:p>
        </p:txBody>
      </p:sp>
    </p:spTree>
    <p:extLst>
      <p:ext uri="{BB962C8B-B14F-4D97-AF65-F5344CB8AC3E}">
        <p14:creationId xmlns:p14="http://schemas.microsoft.com/office/powerpoint/2010/main" val="4118297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Data Integration and Warehousing Assessment - FOUOTSOP FOSSO  PATRICK</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ftr" idx="4"/>
          </p:nvPr>
        </p:nvSpPr>
        <p:spPr>
          <a:xfrm>
            <a:off x="4038480" y="6356520"/>
            <a:ext cx="4113720" cy="363960"/>
          </a:xfrm>
          <a:prstGeom prst="rect">
            <a:avLst/>
          </a:prstGeom>
          <a:noFill/>
          <a:ln w="0">
            <a:noFill/>
          </a:ln>
        </p:spPr>
        <p:txBody>
          <a:bodyPr lIns="90000" tIns="45000" rIns="90000" bIns="45000" anchor="ctr">
            <a:noAutofit/>
          </a:bodyPr>
          <a:lstStyle>
            <a:lvl1pPr algn="ctr">
              <a:lnSpc>
                <a:spcPct val="100000"/>
              </a:lnSpc>
              <a:buNone/>
              <a:defRPr lang="en-US" sz="1200" b="0" strike="noStrike" spc="-1">
                <a:solidFill>
                  <a:srgbClr val="787878"/>
                </a:solidFill>
                <a:latin typeface="Aptos"/>
              </a:defRPr>
            </a:lvl1pPr>
          </a:lstStyle>
          <a:p>
            <a:pPr algn="ctr">
              <a:lnSpc>
                <a:spcPct val="100000"/>
              </a:lnSpc>
              <a:buNone/>
            </a:pPr>
            <a:r>
              <a:rPr lang="en-US" sz="1200" b="0" strike="noStrike" spc="-1">
                <a:solidFill>
                  <a:srgbClr val="787878"/>
                </a:solidFill>
                <a:latin typeface="Aptos"/>
              </a:rPr>
              <a:t>ASSESSMENT TO DATA ANALYSIS AND BI - FOUOTSOP FOSSO PATRICK</a:t>
            </a:r>
            <a:endParaRPr lang="en-US" sz="1200" b="0" strike="noStrike" spc="-1">
              <a:latin typeface="Times New Roman"/>
            </a:endParaRPr>
          </a:p>
        </p:txBody>
      </p:sp>
      <p:sp>
        <p:nvSpPr>
          <p:cNvPr id="42" name="PlaceHolder 2"/>
          <p:cNvSpPr>
            <a:spLocks noGrp="1"/>
          </p:cNvSpPr>
          <p:nvPr>
            <p:ph type="sldNum" idx="5"/>
          </p:nvPr>
        </p:nvSpPr>
        <p:spPr>
          <a:xfrm>
            <a:off x="8610480" y="6356520"/>
            <a:ext cx="2742120" cy="363960"/>
          </a:xfrm>
          <a:prstGeom prst="rect">
            <a:avLst/>
          </a:prstGeom>
          <a:noFill/>
          <a:ln w="0">
            <a:noFill/>
          </a:ln>
        </p:spPr>
        <p:txBody>
          <a:bodyPr lIns="90000" tIns="45000" rIns="90000" bIns="45000" anchor="ctr">
            <a:noAutofit/>
          </a:bodyPr>
          <a:lstStyle>
            <a:lvl1pPr algn="r">
              <a:lnSpc>
                <a:spcPct val="100000"/>
              </a:lnSpc>
              <a:buNone/>
              <a:defRPr lang="en-US" sz="1200" b="0" strike="noStrike" spc="-1">
                <a:solidFill>
                  <a:srgbClr val="787878"/>
                </a:solidFill>
                <a:latin typeface="Aptos"/>
              </a:defRPr>
            </a:lvl1pPr>
          </a:lstStyle>
          <a:p>
            <a:pPr algn="r">
              <a:lnSpc>
                <a:spcPct val="100000"/>
              </a:lnSpc>
              <a:buNone/>
            </a:pPr>
            <a:fld id="{EC6160D7-307F-4F3F-B76A-B85A78C1BE73}" type="slidenum">
              <a:rPr lang="en-US" sz="1200" b="0" strike="noStrike" spc="-1">
                <a:solidFill>
                  <a:srgbClr val="787878"/>
                </a:solidFill>
                <a:latin typeface="Aptos"/>
              </a:rPr>
              <a:t>‹#›</a:t>
            </a:fld>
            <a:endParaRPr lang="en-US" sz="1200" b="0" strike="noStrike" spc="-1">
              <a:latin typeface="Times New Roman"/>
            </a:endParaRPr>
          </a:p>
        </p:txBody>
      </p:sp>
      <p:sp>
        <p:nvSpPr>
          <p:cNvPr id="43" name="PlaceHolder 3"/>
          <p:cNvSpPr>
            <a:spLocks noGrp="1"/>
          </p:cNvSpPr>
          <p:nvPr>
            <p:ph type="dt" idx="6"/>
          </p:nvPr>
        </p:nvSpPr>
        <p:spPr>
          <a:xfrm>
            <a:off x="838080" y="6356520"/>
            <a:ext cx="2742120" cy="363960"/>
          </a:xfrm>
          <a:prstGeom prst="rect">
            <a:avLst/>
          </a:prstGeom>
          <a:noFill/>
          <a:ln w="0">
            <a:noFill/>
          </a:ln>
        </p:spPr>
        <p:txBody>
          <a:bodyPr lIns="90000" tIns="45000" rIns="90000" bIns="45000" anchor="ctr">
            <a:noAutofit/>
          </a:bodyPr>
          <a:lstStyle>
            <a:lvl1pPr>
              <a:defRPr lang="en-US" sz="1400" b="0" strike="noStrike" spc="-1">
                <a:latin typeface="Times New Roman"/>
              </a:defRPr>
            </a:lvl1pPr>
          </a:lstStyle>
          <a:p>
            <a:endParaRPr lang="en-US" sz="1400" b="0" strike="noStrike" spc="-1">
              <a:latin typeface="Times New Roman"/>
            </a:endParaRPr>
          </a:p>
        </p:txBody>
      </p:sp>
      <p:sp>
        <p:nvSpPr>
          <p:cNvPr id="44"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4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extLst>
      <p:ext uri="{BB962C8B-B14F-4D97-AF65-F5344CB8AC3E}">
        <p14:creationId xmlns:p14="http://schemas.microsoft.com/office/powerpoint/2010/main" val="19829147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patrickfosso49@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838" y="960699"/>
            <a:ext cx="12057099" cy="2114225"/>
          </a:xfrm>
        </p:spPr>
        <p:txBody>
          <a:bodyPr>
            <a:noAutofit/>
          </a:bodyPr>
          <a:lstStyle/>
          <a:p>
            <a:r>
              <a:rPr lang="en-US" sz="4800" dirty="0"/>
              <a:t>A BI approach to analyze mortality data using Power BI : Case study </a:t>
            </a:r>
            <a:r>
              <a:rPr lang="en-US" sz="4800"/>
              <a:t>of the ICD-10 of the WHO</a:t>
            </a:r>
            <a:endParaRPr lang="en-US" sz="4800" dirty="0"/>
          </a:p>
        </p:txBody>
      </p:sp>
      <p:sp>
        <p:nvSpPr>
          <p:cNvPr id="3" name="Subtitle 2"/>
          <p:cNvSpPr>
            <a:spLocks noGrp="1"/>
          </p:cNvSpPr>
          <p:nvPr>
            <p:ph type="subTitle" idx="1"/>
          </p:nvPr>
        </p:nvSpPr>
        <p:spPr>
          <a:xfrm>
            <a:off x="1524000" y="3500028"/>
            <a:ext cx="9144000" cy="548706"/>
          </a:xfrm>
        </p:spPr>
        <p:txBody>
          <a:bodyPr vert="horz" lIns="91440" tIns="45720" rIns="91440" bIns="45720" rtlCol="0" anchor="t">
            <a:normAutofit/>
          </a:bodyPr>
          <a:lstStyle/>
          <a:p>
            <a:r>
              <a:rPr lang="en-US" dirty="0"/>
              <a:t>June 2026</a:t>
            </a:r>
          </a:p>
        </p:txBody>
      </p:sp>
      <p:sp>
        <p:nvSpPr>
          <p:cNvPr id="6" name="TextBox 5">
            <a:extLst>
              <a:ext uri="{FF2B5EF4-FFF2-40B4-BE49-F238E27FC236}">
                <a16:creationId xmlns:a16="http://schemas.microsoft.com/office/drawing/2014/main" id="{C6973E03-8FA4-0A4B-F2A9-5D73EE466237}"/>
              </a:ext>
            </a:extLst>
          </p:cNvPr>
          <p:cNvSpPr txBox="1"/>
          <p:nvPr/>
        </p:nvSpPr>
        <p:spPr>
          <a:xfrm>
            <a:off x="1949402" y="4516851"/>
            <a:ext cx="863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t>FOUOTSOP FOSSO PATRICK</a:t>
            </a:r>
          </a:p>
        </p:txBody>
      </p:sp>
      <p:sp>
        <p:nvSpPr>
          <p:cNvPr id="7" name="TextBox 6">
            <a:extLst>
              <a:ext uri="{FF2B5EF4-FFF2-40B4-BE49-F238E27FC236}">
                <a16:creationId xmlns:a16="http://schemas.microsoft.com/office/drawing/2014/main" id="{CB296787-66B2-11A1-4ADF-7672C484719D}"/>
              </a:ext>
            </a:extLst>
          </p:cNvPr>
          <p:cNvSpPr txBox="1"/>
          <p:nvPr/>
        </p:nvSpPr>
        <p:spPr>
          <a:xfrm>
            <a:off x="1977192" y="5150815"/>
            <a:ext cx="856915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A884B"/>
                </a:solidFill>
                <a:hlinkClick r:id="rId2">
                  <a:extLst>
                    <a:ext uri="{A12FA001-AC4F-418D-AE19-62706E023703}">
                      <ahyp:hlinkClr xmlns:ahyp="http://schemas.microsoft.com/office/drawing/2018/hyperlinkcolor" val="tx"/>
                    </a:ext>
                  </a:extLst>
                </a:hlinkClick>
              </a:rPr>
              <a:t>patrickfosso49@gmail.com</a:t>
            </a:r>
            <a:endParaRPr lang="en-US" dirty="0">
              <a:solidFill>
                <a:srgbClr val="FA884B"/>
              </a:solidFill>
            </a:endParaRPr>
          </a:p>
        </p:txBody>
      </p:sp>
      <p:sp>
        <p:nvSpPr>
          <p:cNvPr id="8" name="Rectangle 7">
            <a:extLst>
              <a:ext uri="{FF2B5EF4-FFF2-40B4-BE49-F238E27FC236}">
                <a16:creationId xmlns:a16="http://schemas.microsoft.com/office/drawing/2014/main" id="{B8AC893B-9318-FBA8-A014-301B0F4D8CEA}"/>
              </a:ext>
            </a:extLst>
          </p:cNvPr>
          <p:cNvSpPr/>
          <p:nvPr/>
        </p:nvSpPr>
        <p:spPr>
          <a:xfrm>
            <a:off x="1979048" y="1815"/>
            <a:ext cx="10213959" cy="624129"/>
          </a:xfrm>
          <a:prstGeom prst="rect">
            <a:avLst/>
          </a:prstGeom>
          <a:solidFill>
            <a:srgbClr val="FA88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7DDA15B-C03D-6017-A008-D5B9B4E6D70E}"/>
              </a:ext>
            </a:extLst>
          </p:cNvPr>
          <p:cNvSpPr/>
          <p:nvPr/>
        </p:nvSpPr>
        <p:spPr>
          <a:xfrm>
            <a:off x="0" y="6254151"/>
            <a:ext cx="12191999" cy="603848"/>
          </a:xfrm>
          <a:prstGeom prst="rect">
            <a:avLst/>
          </a:prstGeom>
          <a:solidFill>
            <a:srgbClr val="FA88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logo for a company&#10;&#10;Description automatically generated">
            <a:extLst>
              <a:ext uri="{FF2B5EF4-FFF2-40B4-BE49-F238E27FC236}">
                <a16:creationId xmlns:a16="http://schemas.microsoft.com/office/drawing/2014/main" id="{1E55C7C4-E2FD-BF9B-CF72-D1DE2022A140}"/>
              </a:ext>
            </a:extLst>
          </p:cNvPr>
          <p:cNvPicPr>
            <a:picLocks noChangeAspect="1"/>
          </p:cNvPicPr>
          <p:nvPr/>
        </p:nvPicPr>
        <p:blipFill>
          <a:blip r:embed="rId3"/>
          <a:srcRect l="-49" t="-323" r="-528" b="-1762"/>
          <a:stretch/>
        </p:blipFill>
        <p:spPr>
          <a:xfrm>
            <a:off x="74555" y="6719"/>
            <a:ext cx="1906695" cy="624721"/>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F8EF5-AB7F-C7B5-091D-16A7F77833ED}"/>
            </a:ext>
          </a:extLst>
        </p:cNvPr>
        <p:cNvGrpSpPr/>
        <p:nvPr/>
      </p:nvGrpSpPr>
      <p:grpSpPr>
        <a:xfrm>
          <a:off x="0" y="0"/>
          <a:ext cx="0" cy="0"/>
          <a:chOff x="0" y="0"/>
          <a:chExt cx="0" cy="0"/>
        </a:xfrm>
      </p:grpSpPr>
      <p:sp>
        <p:nvSpPr>
          <p:cNvPr id="96" name="PlaceHolder 1">
            <a:extLst>
              <a:ext uri="{FF2B5EF4-FFF2-40B4-BE49-F238E27FC236}">
                <a16:creationId xmlns:a16="http://schemas.microsoft.com/office/drawing/2014/main" id="{307CBE59-F601-9226-915D-25D632049AAE}"/>
              </a:ext>
            </a:extLst>
          </p:cNvPr>
          <p:cNvSpPr>
            <a:spLocks noGrp="1"/>
          </p:cNvSpPr>
          <p:nvPr>
            <p:ph type="title"/>
          </p:nvPr>
        </p:nvSpPr>
        <p:spPr>
          <a:xfrm>
            <a:off x="9720" y="-8640"/>
            <a:ext cx="12174480" cy="1065600"/>
          </a:xfrm>
          <a:prstGeom prst="rect">
            <a:avLst/>
          </a:prstGeom>
          <a:noFill/>
          <a:ln w="0">
            <a:noFill/>
          </a:ln>
        </p:spPr>
        <p:txBody>
          <a:bodyPr lIns="90000" tIns="45000" rIns="90000" bIns="45000" anchor="ctr">
            <a:normAutofit/>
          </a:bodyPr>
          <a:lstStyle/>
          <a:p>
            <a:pPr algn="ctr">
              <a:lnSpc>
                <a:spcPct val="90000"/>
              </a:lnSpc>
              <a:buNone/>
            </a:pPr>
            <a:r>
              <a:rPr lang="en-US" sz="4800" spc="-1" dirty="0">
                <a:solidFill>
                  <a:srgbClr val="000000"/>
                </a:solidFill>
                <a:latin typeface="Aptos Display"/>
              </a:rPr>
              <a:t>Objective</a:t>
            </a:r>
            <a:endParaRPr lang="en-US" sz="4800" b="0" strike="noStrike" spc="-1" dirty="0">
              <a:latin typeface="Arial"/>
            </a:endParaRPr>
          </a:p>
        </p:txBody>
      </p:sp>
      <p:sp>
        <p:nvSpPr>
          <p:cNvPr id="4" name="PlaceHolder 3">
            <a:extLst>
              <a:ext uri="{FF2B5EF4-FFF2-40B4-BE49-F238E27FC236}">
                <a16:creationId xmlns:a16="http://schemas.microsoft.com/office/drawing/2014/main" id="{CB49D2D7-09AF-4902-32D6-6C1E47748DA3}"/>
              </a:ext>
            </a:extLst>
          </p:cNvPr>
          <p:cNvSpPr>
            <a:spLocks noGrp="1"/>
          </p:cNvSpPr>
          <p:nvPr>
            <p:ph type="sldNum"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17E7B7-BCF8-4704-9E3D-2FA3729F2199}" type="slidenum">
              <a:rPr kumimoji="0" lang="en-US" sz="1200" b="0" i="0" u="none" strike="noStrike" kern="1200" cap="none" spc="-1" normalizeH="0" baseline="0" noProof="0">
                <a:ln>
                  <a:noFill/>
                </a:ln>
                <a:solidFill>
                  <a:srgbClr val="787878"/>
                </a:solidFill>
                <a:effectLst/>
                <a:uLnTx/>
                <a:uFillTx/>
                <a:latin typeface="Apto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1" normalizeH="0" baseline="0" noProof="0">
              <a:ln>
                <a:noFill/>
              </a:ln>
              <a:solidFill>
                <a:srgbClr val="787878"/>
              </a:solidFill>
              <a:effectLst/>
              <a:uLnTx/>
              <a:uFillTx/>
              <a:latin typeface="Aptos"/>
            </a:endParaRPr>
          </a:p>
        </p:txBody>
      </p:sp>
      <p:sp>
        <p:nvSpPr>
          <p:cNvPr id="5" name="TextBox 4">
            <a:extLst>
              <a:ext uri="{FF2B5EF4-FFF2-40B4-BE49-F238E27FC236}">
                <a16:creationId xmlns:a16="http://schemas.microsoft.com/office/drawing/2014/main" id="{F5D351FC-9882-5456-D599-4CD5AD1872D2}"/>
              </a:ext>
            </a:extLst>
          </p:cNvPr>
          <p:cNvSpPr txBox="1"/>
          <p:nvPr/>
        </p:nvSpPr>
        <p:spPr>
          <a:xfrm>
            <a:off x="850232" y="898358"/>
            <a:ext cx="10502368" cy="4433073"/>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rial"/>
              </a:rPr>
              <a:t>The objective of this project is to apply BI techniques to the data collected world wide and compiled to form the unique historical World Health Organization (WHO) mortality database. The outcome of this project will be a report that presents analysis of mortality and infant mortality in  countries member of the WHO</a:t>
            </a:r>
            <a:endParaRPr kumimoji="0" lang="en-CM" sz="3200" b="0" i="0" u="none" strike="noStrike" kern="1200" cap="none" spc="0" normalizeH="0" baseline="0" noProof="0" dirty="0">
              <a:ln>
                <a:noFill/>
              </a:ln>
              <a:solidFill>
                <a:prstClr val="black"/>
              </a:solidFill>
              <a:effectLst/>
              <a:uLnTx/>
              <a:uFillTx/>
              <a:latin typeface="Arial"/>
            </a:endParaRPr>
          </a:p>
        </p:txBody>
      </p:sp>
    </p:spTree>
    <p:extLst>
      <p:ext uri="{BB962C8B-B14F-4D97-AF65-F5344CB8AC3E}">
        <p14:creationId xmlns:p14="http://schemas.microsoft.com/office/powerpoint/2010/main" val="4086260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7669-CFB0-AEC4-65FC-64D8845742AB}"/>
              </a:ext>
            </a:extLst>
          </p:cNvPr>
          <p:cNvSpPr>
            <a:spLocks noGrp="1"/>
          </p:cNvSpPr>
          <p:nvPr>
            <p:ph type="title"/>
          </p:nvPr>
        </p:nvSpPr>
        <p:spPr>
          <a:xfrm>
            <a:off x="838200" y="2478768"/>
            <a:ext cx="10515600" cy="1906134"/>
          </a:xfrm>
        </p:spPr>
        <p:txBody>
          <a:bodyPr>
            <a:normAutofit/>
          </a:bodyPr>
          <a:lstStyle/>
          <a:p>
            <a:pPr algn="ctr"/>
            <a:r>
              <a:rPr lang="en-US" sz="5400" b="1" dirty="0"/>
              <a:t>Description</a:t>
            </a:r>
          </a:p>
        </p:txBody>
      </p:sp>
      <p:sp>
        <p:nvSpPr>
          <p:cNvPr id="4" name="Footer Placeholder 3">
            <a:extLst>
              <a:ext uri="{FF2B5EF4-FFF2-40B4-BE49-F238E27FC236}">
                <a16:creationId xmlns:a16="http://schemas.microsoft.com/office/drawing/2014/main" id="{56276AFE-640E-7E3E-00E0-1304A1D7E4FE}"/>
              </a:ext>
            </a:extLst>
          </p:cNvPr>
          <p:cNvSpPr>
            <a:spLocks noGrp="1"/>
          </p:cNvSpPr>
          <p:nvPr>
            <p:ph type="ftr" sz="quarter" idx="11"/>
          </p:nvPr>
        </p:nvSpPr>
        <p:spPr/>
        <p:txBody>
          <a:bodyPr/>
          <a:lstStyle/>
          <a:p>
            <a:r>
              <a:rPr lang="en-US"/>
              <a:t>Data Integration and Warehousing Assessment - FOUOTSOP FOSSO  PATRICK</a:t>
            </a:r>
          </a:p>
        </p:txBody>
      </p:sp>
      <p:sp>
        <p:nvSpPr>
          <p:cNvPr id="5" name="Slide Number Placeholder 4">
            <a:extLst>
              <a:ext uri="{FF2B5EF4-FFF2-40B4-BE49-F238E27FC236}">
                <a16:creationId xmlns:a16="http://schemas.microsoft.com/office/drawing/2014/main" id="{9B0DA528-11FB-1935-A6A7-41A0F4E212A0}"/>
              </a:ext>
            </a:extLst>
          </p:cNvPr>
          <p:cNvSpPr>
            <a:spLocks noGrp="1"/>
          </p:cNvSpPr>
          <p:nvPr>
            <p:ph type="sldNum" sz="quarter" idx="12"/>
          </p:nvPr>
        </p:nvSpPr>
        <p:spPr/>
        <p:txBody>
          <a:bodyPr/>
          <a:lstStyle/>
          <a:p>
            <a:fld id="{330EA680-D336-4FF7-8B7A-9848BB0A1C32}" type="slidenum">
              <a:rPr lang="en-US" smtClean="0"/>
              <a:t>3</a:t>
            </a:fld>
            <a:endParaRPr lang="en-US"/>
          </a:p>
        </p:txBody>
      </p:sp>
    </p:spTree>
    <p:extLst>
      <p:ext uri="{BB962C8B-B14F-4D97-AF65-F5344CB8AC3E}">
        <p14:creationId xmlns:p14="http://schemas.microsoft.com/office/powerpoint/2010/main" val="1515572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7F166-F35B-5E14-205C-9E5621030459}"/>
            </a:ext>
          </a:extLst>
        </p:cNvPr>
        <p:cNvGrpSpPr/>
        <p:nvPr/>
      </p:nvGrpSpPr>
      <p:grpSpPr>
        <a:xfrm>
          <a:off x="0" y="0"/>
          <a:ext cx="0" cy="0"/>
          <a:chOff x="0" y="0"/>
          <a:chExt cx="0" cy="0"/>
        </a:xfrm>
      </p:grpSpPr>
      <p:sp>
        <p:nvSpPr>
          <p:cNvPr id="96" name="PlaceHolder 1">
            <a:extLst>
              <a:ext uri="{FF2B5EF4-FFF2-40B4-BE49-F238E27FC236}">
                <a16:creationId xmlns:a16="http://schemas.microsoft.com/office/drawing/2014/main" id="{B8AC92DA-9877-D6C1-2858-B52C68C78C04}"/>
              </a:ext>
            </a:extLst>
          </p:cNvPr>
          <p:cNvSpPr>
            <a:spLocks noGrp="1"/>
          </p:cNvSpPr>
          <p:nvPr>
            <p:ph type="title"/>
          </p:nvPr>
        </p:nvSpPr>
        <p:spPr>
          <a:xfrm>
            <a:off x="9720" y="-8640"/>
            <a:ext cx="12174480" cy="1065600"/>
          </a:xfrm>
          <a:prstGeom prst="rect">
            <a:avLst/>
          </a:prstGeom>
          <a:noFill/>
          <a:ln w="0">
            <a:noFill/>
          </a:ln>
        </p:spPr>
        <p:txBody>
          <a:bodyPr lIns="90000" tIns="45000" rIns="90000" bIns="45000" anchor="ctr">
            <a:normAutofit/>
          </a:bodyPr>
          <a:lstStyle/>
          <a:p>
            <a:pPr algn="ctr">
              <a:lnSpc>
                <a:spcPct val="90000"/>
              </a:lnSpc>
              <a:buNone/>
            </a:pPr>
            <a:r>
              <a:rPr lang="en-US" sz="4800" spc="-1" dirty="0">
                <a:solidFill>
                  <a:srgbClr val="000000"/>
                </a:solidFill>
                <a:latin typeface="Aptos Display"/>
              </a:rPr>
              <a:t>Data description</a:t>
            </a:r>
            <a:endParaRPr lang="en-US" sz="4800" b="0" strike="noStrike" spc="-1" dirty="0">
              <a:latin typeface="Arial"/>
            </a:endParaRPr>
          </a:p>
        </p:txBody>
      </p:sp>
      <p:sp>
        <p:nvSpPr>
          <p:cNvPr id="4" name="PlaceHolder 3">
            <a:extLst>
              <a:ext uri="{FF2B5EF4-FFF2-40B4-BE49-F238E27FC236}">
                <a16:creationId xmlns:a16="http://schemas.microsoft.com/office/drawing/2014/main" id="{9813F170-A253-3F78-21C5-50257B5063AF}"/>
              </a:ext>
            </a:extLst>
          </p:cNvPr>
          <p:cNvSpPr>
            <a:spLocks noGrp="1"/>
          </p:cNvSpPr>
          <p:nvPr>
            <p:ph type="sldNum"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17E7B7-BCF8-4704-9E3D-2FA3729F2199}" type="slidenum">
              <a:rPr kumimoji="0" lang="en-US" sz="1200" b="0" i="0" u="none" strike="noStrike" kern="1200" cap="none" spc="-1" normalizeH="0" baseline="0" noProof="0">
                <a:ln>
                  <a:noFill/>
                </a:ln>
                <a:solidFill>
                  <a:srgbClr val="787878"/>
                </a:solidFill>
                <a:effectLst/>
                <a:uLnTx/>
                <a:uFillTx/>
                <a:latin typeface="Apto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1" normalizeH="0" baseline="0" noProof="0">
              <a:ln>
                <a:noFill/>
              </a:ln>
              <a:solidFill>
                <a:srgbClr val="787878"/>
              </a:solidFill>
              <a:effectLst/>
              <a:uLnTx/>
              <a:uFillTx/>
              <a:latin typeface="Aptos"/>
            </a:endParaRPr>
          </a:p>
        </p:txBody>
      </p:sp>
      <p:sp>
        <p:nvSpPr>
          <p:cNvPr id="5" name="TextBox 4">
            <a:extLst>
              <a:ext uri="{FF2B5EF4-FFF2-40B4-BE49-F238E27FC236}">
                <a16:creationId xmlns:a16="http://schemas.microsoft.com/office/drawing/2014/main" id="{985D9CD8-541D-062B-AF04-B332979A3369}"/>
              </a:ext>
            </a:extLst>
          </p:cNvPr>
          <p:cNvSpPr txBox="1"/>
          <p:nvPr/>
        </p:nvSpPr>
        <p:spPr>
          <a:xfrm>
            <a:off x="850232" y="898358"/>
            <a:ext cx="10502368" cy="5171737"/>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rial"/>
              </a:rPr>
              <a:t>The data are stored in a CSV file corresponding to the first part the tenth revision of the International classification of Diseases (ICD), which contains records of data collected for the years 2021 onwards. The full description of the data is provided in the data documentation.</a:t>
            </a:r>
            <a:endParaRPr kumimoji="0" lang="en-CM" sz="3200" b="0" i="0" u="none" strike="noStrike" kern="1200" cap="none" spc="0" normalizeH="0" baseline="0" noProof="0" dirty="0">
              <a:ln>
                <a:noFill/>
              </a:ln>
              <a:solidFill>
                <a:prstClr val="black"/>
              </a:solidFill>
              <a:effectLst/>
              <a:uLnTx/>
              <a:uFillTx/>
              <a:latin typeface="Arial"/>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CM" sz="3200" b="0" i="0" u="none" strike="noStrike" kern="1200" cap="none" spc="0" normalizeH="0" baseline="0" noProof="0" dirty="0">
              <a:ln>
                <a:noFill/>
              </a:ln>
              <a:solidFill>
                <a:prstClr val="black"/>
              </a:solidFill>
              <a:effectLst/>
              <a:uLnTx/>
              <a:uFillTx/>
              <a:latin typeface="Arial"/>
            </a:endParaRPr>
          </a:p>
        </p:txBody>
      </p:sp>
    </p:spTree>
    <p:extLst>
      <p:ext uri="{BB962C8B-B14F-4D97-AF65-F5344CB8AC3E}">
        <p14:creationId xmlns:p14="http://schemas.microsoft.com/office/powerpoint/2010/main" val="3311680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254A1-AD0C-3E0F-4DB2-03F568F31536}"/>
            </a:ext>
          </a:extLst>
        </p:cNvPr>
        <p:cNvGrpSpPr/>
        <p:nvPr/>
      </p:nvGrpSpPr>
      <p:grpSpPr>
        <a:xfrm>
          <a:off x="0" y="0"/>
          <a:ext cx="0" cy="0"/>
          <a:chOff x="0" y="0"/>
          <a:chExt cx="0" cy="0"/>
        </a:xfrm>
      </p:grpSpPr>
      <p:sp>
        <p:nvSpPr>
          <p:cNvPr id="96" name="PlaceHolder 1">
            <a:extLst>
              <a:ext uri="{FF2B5EF4-FFF2-40B4-BE49-F238E27FC236}">
                <a16:creationId xmlns:a16="http://schemas.microsoft.com/office/drawing/2014/main" id="{7092D8A2-3E69-71E0-231B-020C12622C1E}"/>
              </a:ext>
            </a:extLst>
          </p:cNvPr>
          <p:cNvSpPr>
            <a:spLocks noGrp="1"/>
          </p:cNvSpPr>
          <p:nvPr>
            <p:ph type="title"/>
          </p:nvPr>
        </p:nvSpPr>
        <p:spPr>
          <a:xfrm>
            <a:off x="179389" y="137520"/>
            <a:ext cx="12012611" cy="564444"/>
          </a:xfrm>
          <a:prstGeom prst="rect">
            <a:avLst/>
          </a:prstGeom>
          <a:noFill/>
          <a:ln w="0">
            <a:noFill/>
          </a:ln>
        </p:spPr>
        <p:txBody>
          <a:bodyPr lIns="90000" tIns="45000" rIns="90000" bIns="45000" anchor="ctr">
            <a:noAutofit/>
          </a:bodyPr>
          <a:lstStyle/>
          <a:p>
            <a:pPr algn="ctr">
              <a:lnSpc>
                <a:spcPct val="90000"/>
              </a:lnSpc>
              <a:buNone/>
            </a:pPr>
            <a:r>
              <a:rPr lang="en-US" sz="4800" b="0" strike="noStrike" spc="-1" dirty="0">
                <a:latin typeface="Arial"/>
              </a:rPr>
              <a:t>Technical requirements</a:t>
            </a:r>
          </a:p>
        </p:txBody>
      </p:sp>
      <p:sp>
        <p:nvSpPr>
          <p:cNvPr id="4" name="PlaceHolder 3">
            <a:extLst>
              <a:ext uri="{FF2B5EF4-FFF2-40B4-BE49-F238E27FC236}">
                <a16:creationId xmlns:a16="http://schemas.microsoft.com/office/drawing/2014/main" id="{D7391838-3304-4231-4F42-433EB759607E}"/>
              </a:ext>
            </a:extLst>
          </p:cNvPr>
          <p:cNvSpPr>
            <a:spLocks noGrp="1"/>
          </p:cNvSpPr>
          <p:nvPr>
            <p:ph type="sldNum" idx="5"/>
          </p:nvPr>
        </p:nvSpPr>
        <p:spPr/>
        <p:txBody>
          <a:bodyPr/>
          <a:lstStyle/>
          <a:p>
            <a:fld id="{2B17E7B7-BCF8-4704-9E3D-2FA3729F2199}" type="slidenum">
              <a:rPr/>
              <a:t>5</a:t>
            </a:fld>
            <a:endParaRPr/>
          </a:p>
        </p:txBody>
      </p:sp>
      <p:sp>
        <p:nvSpPr>
          <p:cNvPr id="5" name="TextBox 4">
            <a:extLst>
              <a:ext uri="{FF2B5EF4-FFF2-40B4-BE49-F238E27FC236}">
                <a16:creationId xmlns:a16="http://schemas.microsoft.com/office/drawing/2014/main" id="{F68C9A4D-1CF7-0EC7-011D-653CFBC60203}"/>
              </a:ext>
            </a:extLst>
          </p:cNvPr>
          <p:cNvSpPr txBox="1"/>
          <p:nvPr/>
        </p:nvSpPr>
        <p:spPr>
          <a:xfrm>
            <a:off x="277994" y="1450979"/>
            <a:ext cx="11636011" cy="4433073"/>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sz="3200" dirty="0"/>
              <a:t>Perform data preparation, clean the data and manage any inconsistencies and missing values</a:t>
            </a:r>
          </a:p>
          <a:p>
            <a:pPr marL="457200" indent="-457200">
              <a:lnSpc>
                <a:spcPct val="150000"/>
              </a:lnSpc>
              <a:buFont typeface="Arial" panose="020B0604020202020204" pitchFamily="34" charset="0"/>
              <a:buChar char="•"/>
            </a:pPr>
            <a:r>
              <a:rPr lang="en-US" sz="3200" dirty="0"/>
              <a:t>Propose and implement star schema data warehouse model for your data</a:t>
            </a:r>
          </a:p>
          <a:p>
            <a:pPr marL="457200" indent="-457200">
              <a:lnSpc>
                <a:spcPct val="150000"/>
              </a:lnSpc>
              <a:buFont typeface="Arial" panose="020B0604020202020204" pitchFamily="34" charset="0"/>
              <a:buChar char="•"/>
            </a:pPr>
            <a:r>
              <a:rPr lang="en-US" sz="3200" dirty="0"/>
              <a:t>Analyze the data and use visuals to present and interpret the results</a:t>
            </a:r>
          </a:p>
        </p:txBody>
      </p:sp>
      <p:sp>
        <p:nvSpPr>
          <p:cNvPr id="2" name="TextBox 1">
            <a:extLst>
              <a:ext uri="{FF2B5EF4-FFF2-40B4-BE49-F238E27FC236}">
                <a16:creationId xmlns:a16="http://schemas.microsoft.com/office/drawing/2014/main" id="{095A177A-B015-ABCF-A706-1A6D76543717}"/>
              </a:ext>
            </a:extLst>
          </p:cNvPr>
          <p:cNvSpPr txBox="1"/>
          <p:nvPr/>
        </p:nvSpPr>
        <p:spPr>
          <a:xfrm>
            <a:off x="277994" y="741976"/>
            <a:ext cx="5375563" cy="584775"/>
          </a:xfrm>
          <a:prstGeom prst="rect">
            <a:avLst/>
          </a:prstGeom>
          <a:noFill/>
        </p:spPr>
        <p:txBody>
          <a:bodyPr wrap="square" rtlCol="0">
            <a:spAutoFit/>
          </a:bodyPr>
          <a:lstStyle/>
          <a:p>
            <a:r>
              <a:rPr lang="en-US" sz="3200" spc="-1" dirty="0"/>
              <a:t>We therefore want you to :</a:t>
            </a:r>
            <a:endParaRPr lang="en-CM" sz="3200" dirty="0"/>
          </a:p>
        </p:txBody>
      </p:sp>
    </p:spTree>
    <p:extLst>
      <p:ext uri="{BB962C8B-B14F-4D97-AF65-F5344CB8AC3E}">
        <p14:creationId xmlns:p14="http://schemas.microsoft.com/office/powerpoint/2010/main" val="2533805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7669-CFB0-AEC4-65FC-64D8845742AB}"/>
              </a:ext>
            </a:extLst>
          </p:cNvPr>
          <p:cNvSpPr>
            <a:spLocks noGrp="1"/>
          </p:cNvSpPr>
          <p:nvPr>
            <p:ph type="title"/>
          </p:nvPr>
        </p:nvSpPr>
        <p:spPr>
          <a:xfrm>
            <a:off x="838200" y="2478768"/>
            <a:ext cx="10515600" cy="1906134"/>
          </a:xfrm>
        </p:spPr>
        <p:txBody>
          <a:bodyPr>
            <a:normAutofit/>
          </a:bodyPr>
          <a:lstStyle/>
          <a:p>
            <a:pPr algn="ctr"/>
            <a:r>
              <a:rPr lang="en-US" sz="5400" b="1" dirty="0"/>
              <a:t>Resources</a:t>
            </a:r>
            <a:endParaRPr lang="en-US" dirty="0"/>
          </a:p>
        </p:txBody>
      </p:sp>
      <p:sp>
        <p:nvSpPr>
          <p:cNvPr id="4" name="Footer Placeholder 3">
            <a:extLst>
              <a:ext uri="{FF2B5EF4-FFF2-40B4-BE49-F238E27FC236}">
                <a16:creationId xmlns:a16="http://schemas.microsoft.com/office/drawing/2014/main" id="{56276AFE-640E-7E3E-00E0-1304A1D7E4FE}"/>
              </a:ext>
            </a:extLst>
          </p:cNvPr>
          <p:cNvSpPr>
            <a:spLocks noGrp="1"/>
          </p:cNvSpPr>
          <p:nvPr>
            <p:ph type="ftr" sz="quarter" idx="11"/>
          </p:nvPr>
        </p:nvSpPr>
        <p:spPr/>
        <p:txBody>
          <a:bodyPr/>
          <a:lstStyle/>
          <a:p>
            <a:r>
              <a:rPr lang="en-US"/>
              <a:t>Data Integration and Warehousing Assessment - FOUOTSOP FOSSO  PATRICK</a:t>
            </a:r>
          </a:p>
        </p:txBody>
      </p:sp>
      <p:sp>
        <p:nvSpPr>
          <p:cNvPr id="5" name="Slide Number Placeholder 4">
            <a:extLst>
              <a:ext uri="{FF2B5EF4-FFF2-40B4-BE49-F238E27FC236}">
                <a16:creationId xmlns:a16="http://schemas.microsoft.com/office/drawing/2014/main" id="{9B0DA528-11FB-1935-A6A7-41A0F4E212A0}"/>
              </a:ext>
            </a:extLst>
          </p:cNvPr>
          <p:cNvSpPr>
            <a:spLocks noGrp="1"/>
          </p:cNvSpPr>
          <p:nvPr>
            <p:ph type="sldNum" sz="quarter" idx="12"/>
          </p:nvPr>
        </p:nvSpPr>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1634018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6276AFE-640E-7E3E-00E0-1304A1D7E4FE}"/>
              </a:ext>
            </a:extLst>
          </p:cNvPr>
          <p:cNvSpPr>
            <a:spLocks noGrp="1"/>
          </p:cNvSpPr>
          <p:nvPr>
            <p:ph type="ftr" sz="quarter" idx="11"/>
          </p:nvPr>
        </p:nvSpPr>
        <p:spPr>
          <a:xfrm>
            <a:off x="709386" y="6356350"/>
            <a:ext cx="5112657" cy="365125"/>
          </a:xfrm>
        </p:spPr>
        <p:txBody>
          <a:bodyPr/>
          <a:lstStyle/>
          <a:p>
            <a:r>
              <a:rPr lang="en-US">
                <a:solidFill>
                  <a:srgbClr val="FA884B"/>
                </a:solidFill>
              </a:rPr>
              <a:t>Data Integration and Warehousing Assessment - FOUOTSOP FOSSO  PATRICK</a:t>
            </a:r>
          </a:p>
        </p:txBody>
      </p:sp>
      <p:sp>
        <p:nvSpPr>
          <p:cNvPr id="5" name="Slide Number Placeholder 4">
            <a:extLst>
              <a:ext uri="{FF2B5EF4-FFF2-40B4-BE49-F238E27FC236}">
                <a16:creationId xmlns:a16="http://schemas.microsoft.com/office/drawing/2014/main" id="{9B0DA528-11FB-1935-A6A7-41A0F4E212A0}"/>
              </a:ext>
            </a:extLst>
          </p:cNvPr>
          <p:cNvSpPr>
            <a:spLocks noGrp="1"/>
          </p:cNvSpPr>
          <p:nvPr>
            <p:ph type="sldNum" sz="quarter" idx="12"/>
          </p:nvPr>
        </p:nvSpPr>
        <p:spPr/>
        <p:txBody>
          <a:bodyPr/>
          <a:lstStyle/>
          <a:p>
            <a:fld id="{330EA680-D336-4FF7-8B7A-9848BB0A1C32}" type="slidenum">
              <a:rPr lang="en-US" smtClean="0"/>
              <a:t>7</a:t>
            </a:fld>
            <a:endParaRPr lang="en-US"/>
          </a:p>
        </p:txBody>
      </p:sp>
      <p:sp>
        <p:nvSpPr>
          <p:cNvPr id="7" name="TextBox 6">
            <a:extLst>
              <a:ext uri="{FF2B5EF4-FFF2-40B4-BE49-F238E27FC236}">
                <a16:creationId xmlns:a16="http://schemas.microsoft.com/office/drawing/2014/main" id="{F176FFB8-B857-45A3-48EA-7BDD35C3B46B}"/>
              </a:ext>
            </a:extLst>
          </p:cNvPr>
          <p:cNvSpPr txBox="1"/>
          <p:nvPr/>
        </p:nvSpPr>
        <p:spPr>
          <a:xfrm>
            <a:off x="856848" y="2113948"/>
            <a:ext cx="10847760" cy="13228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800" dirty="0"/>
              <a:t>The dataset is available at : </a:t>
            </a:r>
            <a:r>
              <a:rPr lang="en-US" sz="2800" dirty="0">
                <a:solidFill>
                  <a:schemeClr val="accent2">
                    <a:lumMod val="75000"/>
                  </a:schemeClr>
                </a:solidFill>
              </a:rPr>
              <a:t>https://www.who.int/data/data-collection-tools/who-mortality-database</a:t>
            </a:r>
          </a:p>
        </p:txBody>
      </p:sp>
    </p:spTree>
    <p:extLst>
      <p:ext uri="{BB962C8B-B14F-4D97-AF65-F5344CB8AC3E}">
        <p14:creationId xmlns:p14="http://schemas.microsoft.com/office/powerpoint/2010/main" val="620602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7669-CFB0-AEC4-65FC-64D8845742AB}"/>
              </a:ext>
            </a:extLst>
          </p:cNvPr>
          <p:cNvSpPr>
            <a:spLocks noGrp="1"/>
          </p:cNvSpPr>
          <p:nvPr>
            <p:ph type="title"/>
          </p:nvPr>
        </p:nvSpPr>
        <p:spPr>
          <a:xfrm>
            <a:off x="838200" y="2478768"/>
            <a:ext cx="10515600" cy="1906134"/>
          </a:xfrm>
        </p:spPr>
        <p:txBody>
          <a:bodyPr>
            <a:normAutofit/>
          </a:bodyPr>
          <a:lstStyle/>
          <a:p>
            <a:pPr algn="ctr"/>
            <a:r>
              <a:rPr lang="en-US" sz="5400" b="1"/>
              <a:t>GOOD LUCK</a:t>
            </a:r>
          </a:p>
        </p:txBody>
      </p:sp>
      <p:sp>
        <p:nvSpPr>
          <p:cNvPr id="4" name="Footer Placeholder 3">
            <a:extLst>
              <a:ext uri="{FF2B5EF4-FFF2-40B4-BE49-F238E27FC236}">
                <a16:creationId xmlns:a16="http://schemas.microsoft.com/office/drawing/2014/main" id="{56276AFE-640E-7E3E-00E0-1304A1D7E4FE}"/>
              </a:ext>
            </a:extLst>
          </p:cNvPr>
          <p:cNvSpPr>
            <a:spLocks noGrp="1"/>
          </p:cNvSpPr>
          <p:nvPr>
            <p:ph type="ftr" sz="quarter" idx="11"/>
          </p:nvPr>
        </p:nvSpPr>
        <p:spPr/>
        <p:txBody>
          <a:bodyPr/>
          <a:lstStyle/>
          <a:p>
            <a:r>
              <a:rPr lang="en-US"/>
              <a:t>Data Integration and Warehousing Assessment - FOUOTSOP FOSSO  PATRICK</a:t>
            </a:r>
          </a:p>
        </p:txBody>
      </p:sp>
      <p:sp>
        <p:nvSpPr>
          <p:cNvPr id="5" name="Slide Number Placeholder 4">
            <a:extLst>
              <a:ext uri="{FF2B5EF4-FFF2-40B4-BE49-F238E27FC236}">
                <a16:creationId xmlns:a16="http://schemas.microsoft.com/office/drawing/2014/main" id="{9B0DA528-11FB-1935-A6A7-41A0F4E212A0}"/>
              </a:ext>
            </a:extLst>
          </p:cNvPr>
          <p:cNvSpPr>
            <a:spLocks noGrp="1"/>
          </p:cNvSpPr>
          <p:nvPr>
            <p:ph type="sldNum" sz="quarter" idx="12"/>
          </p:nvPr>
        </p:nvSpPr>
        <p:spPr/>
        <p:txBody>
          <a:bodyPr/>
          <a:lstStyle/>
          <a:p>
            <a:fld id="{330EA680-D336-4FF7-8B7A-9848BB0A1C32}" type="slidenum">
              <a:rPr lang="en-US" smtClean="0"/>
              <a:t>8</a:t>
            </a:fld>
            <a:endParaRPr lang="en-US"/>
          </a:p>
        </p:txBody>
      </p:sp>
    </p:spTree>
    <p:extLst>
      <p:ext uri="{BB962C8B-B14F-4D97-AF65-F5344CB8AC3E}">
        <p14:creationId xmlns:p14="http://schemas.microsoft.com/office/powerpoint/2010/main" val="8482676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42</TotalTime>
  <Words>248</Words>
  <Application>Microsoft Office PowerPoint</Application>
  <PresentationFormat>Widescreen</PresentationFormat>
  <Paragraphs>28</Paragraphs>
  <Slides>8</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Symbol</vt:lpstr>
      <vt:lpstr>Times New Roman</vt:lpstr>
      <vt:lpstr>Wingdings</vt:lpstr>
      <vt:lpstr>office theme</vt:lpstr>
      <vt:lpstr>1_Office Theme</vt:lpstr>
      <vt:lpstr>A BI approach to analyze mortality data using Power BI : Case study of the ICD-10 of the WHO</vt:lpstr>
      <vt:lpstr>Objective</vt:lpstr>
      <vt:lpstr>Description</vt:lpstr>
      <vt:lpstr>Data description</vt:lpstr>
      <vt:lpstr>Technical requirements</vt:lpstr>
      <vt:lpstr>Resources</vt:lpstr>
      <vt:lpstr>PowerPoint Presentation</vt:lpstr>
      <vt:lpstr>GOOD LUCK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patrick fouotsop fosso</dc:creator>
  <cp:lastModifiedBy>patrick fouotsop fosso</cp:lastModifiedBy>
  <cp:revision>843</cp:revision>
  <dcterms:created xsi:type="dcterms:W3CDTF">2024-10-03T00:17:11Z</dcterms:created>
  <dcterms:modified xsi:type="dcterms:W3CDTF">2026-06-09T14:21:28Z</dcterms:modified>
</cp:coreProperties>
</file>