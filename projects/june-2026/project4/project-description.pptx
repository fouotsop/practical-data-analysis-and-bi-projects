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sldIdLst>
    <p:sldId id="256" r:id="rId3"/>
    <p:sldId id="304" r:id="rId4"/>
    <p:sldId id="293" r:id="rId5"/>
    <p:sldId id="301" r:id="rId6"/>
    <p:sldId id="322" r:id="rId7"/>
    <p:sldId id="325" r:id="rId8"/>
    <p:sldId id="32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884B"/>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19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6/9/2026</a:t>
            </a:fld>
            <a:endParaRPr lang="en-US"/>
          </a:p>
        </p:txBody>
      </p:sp>
      <p:sp>
        <p:nvSpPr>
          <p:cNvPr id="6" name="Footer Placeholder 5"/>
          <p:cNvSpPr>
            <a:spLocks noGrp="1"/>
          </p:cNvSpPr>
          <p:nvPr>
            <p:ph type="ftr" sz="quarter" idx="11"/>
          </p:nvPr>
        </p:nvSpPr>
        <p:spPr/>
        <p:txBody>
          <a:bodyPr/>
          <a:lstStyle/>
          <a:p>
            <a:r>
              <a:rPr lang="en-US"/>
              <a:t>Data Integration and Warehousing Assessment - FOUOTSOP FOSSO  PATRICK</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6/9/2026</a:t>
            </a:fld>
            <a:endParaRPr lang="en-US"/>
          </a:p>
        </p:txBody>
      </p:sp>
      <p:sp>
        <p:nvSpPr>
          <p:cNvPr id="8" name="Footer Placeholder 7"/>
          <p:cNvSpPr>
            <a:spLocks noGrp="1"/>
          </p:cNvSpPr>
          <p:nvPr>
            <p:ph type="ftr" sz="quarter" idx="11"/>
          </p:nvPr>
        </p:nvSpPr>
        <p:spPr/>
        <p:txBody>
          <a:bodyPr/>
          <a:lstStyle/>
          <a:p>
            <a:r>
              <a:rPr lang="en-US"/>
              <a:t>Data Integration and Warehousing Assessment - FOUOTSOP FOSSO  PATRICK</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6/9/2026</a:t>
            </a:fld>
            <a:endParaRPr lang="en-US"/>
          </a:p>
        </p:txBody>
      </p:sp>
      <p:sp>
        <p:nvSpPr>
          <p:cNvPr id="4" name="Footer Placeholder 3"/>
          <p:cNvSpPr>
            <a:spLocks noGrp="1"/>
          </p:cNvSpPr>
          <p:nvPr>
            <p:ph type="ftr" sz="quarter" idx="11"/>
          </p:nvPr>
        </p:nvSpPr>
        <p:spPr/>
        <p:txBody>
          <a:bodyPr/>
          <a:lstStyle/>
          <a:p>
            <a:r>
              <a:rPr lang="en-US"/>
              <a:t>Data Integration and Warehousing Assessment - FOUOTSOP FOSSO  PATRICK</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6/9/2026</a:t>
            </a:fld>
            <a:endParaRPr lang="en-US"/>
          </a:p>
        </p:txBody>
      </p:sp>
      <p:sp>
        <p:nvSpPr>
          <p:cNvPr id="3" name="Footer Placeholder 2"/>
          <p:cNvSpPr>
            <a:spLocks noGrp="1"/>
          </p:cNvSpPr>
          <p:nvPr>
            <p:ph type="ftr" sz="quarter" idx="11"/>
          </p:nvPr>
        </p:nvSpPr>
        <p:spPr/>
        <p:txBody>
          <a:bodyPr/>
          <a:lstStyle/>
          <a:p>
            <a:r>
              <a:rPr lang="en-US"/>
              <a:t>Data Integration and Warehousing Assessment - FOUOTSOP FOSSO  PATRICK</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6/9/2026</a:t>
            </a:fld>
            <a:endParaRPr lang="en-US"/>
          </a:p>
        </p:txBody>
      </p:sp>
      <p:sp>
        <p:nvSpPr>
          <p:cNvPr id="6" name="Footer Placeholder 5"/>
          <p:cNvSpPr>
            <a:spLocks noGrp="1"/>
          </p:cNvSpPr>
          <p:nvPr>
            <p:ph type="ftr" sz="quarter" idx="11"/>
          </p:nvPr>
        </p:nvSpPr>
        <p:spPr/>
        <p:txBody>
          <a:bodyPr/>
          <a:lstStyle/>
          <a:p>
            <a:r>
              <a:rPr lang="en-US"/>
              <a:t>Data Integration and Warehousing Assessment - FOUOTSOP FOSSO  PATRICK</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6/9/2026</a:t>
            </a:fld>
            <a:endParaRPr lang="en-US"/>
          </a:p>
        </p:txBody>
      </p:sp>
      <p:sp>
        <p:nvSpPr>
          <p:cNvPr id="6" name="Footer Placeholder 5"/>
          <p:cNvSpPr>
            <a:spLocks noGrp="1"/>
          </p:cNvSpPr>
          <p:nvPr>
            <p:ph type="ftr" sz="quarter" idx="11"/>
          </p:nvPr>
        </p:nvSpPr>
        <p:spPr/>
        <p:txBody>
          <a:bodyPr/>
          <a:lstStyle/>
          <a:p>
            <a:r>
              <a:rPr lang="en-US"/>
              <a:t>Data Integration and Warehousing Assessment - FOUOTSOP FOSSO  PATRICK</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6/9/2026</a:t>
            </a:fld>
            <a:endParaRPr lang="en-US"/>
          </a:p>
        </p:txBody>
      </p:sp>
      <p:sp>
        <p:nvSpPr>
          <p:cNvPr id="5" name="Footer Placeholder 4"/>
          <p:cNvSpPr>
            <a:spLocks noGrp="1"/>
          </p:cNvSpPr>
          <p:nvPr>
            <p:ph type="ftr" sz="quarter" idx="11"/>
          </p:nvPr>
        </p:nvSpPr>
        <p:spPr/>
        <p:txBody>
          <a:bodyPr/>
          <a:lstStyle/>
          <a:p>
            <a:r>
              <a:rPr lang="en-US"/>
              <a:t>Data Integration and Warehousing Assessment - FOUOTSOP FOSSO  PATRICK</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rPr lang="en-US"/>
              <a:t>ASSESSMENT TO DATA ANALYSIS AND BI - FOUOTSOP FOSSO PATRICK</a:t>
            </a:r>
            <a:endParaRPr/>
          </a:p>
        </p:txBody>
      </p:sp>
      <p:sp>
        <p:nvSpPr>
          <p:cNvPr id="3" name="PlaceHolder 2"/>
          <p:cNvSpPr>
            <a:spLocks noGrp="1"/>
          </p:cNvSpPr>
          <p:nvPr>
            <p:ph type="sldNum" idx="5"/>
          </p:nvPr>
        </p:nvSpPr>
        <p:spPr/>
        <p:txBody>
          <a:bodyPr/>
          <a:lstStyle/>
          <a:p>
            <a:fld id="{251B6025-BD3B-4F60-AF55-76D0435C51FF}" type="slidenum">
              <a:t>‹#›</a:t>
            </a:fld>
            <a:endParaRPr/>
          </a:p>
        </p:txBody>
      </p:sp>
      <p:sp>
        <p:nvSpPr>
          <p:cNvPr id="4" name="PlaceHolder 3"/>
          <p:cNvSpPr>
            <a:spLocks noGrp="1"/>
          </p:cNvSpPr>
          <p:nvPr>
            <p:ph type="dt" idx="6"/>
          </p:nvPr>
        </p:nvSpPr>
        <p:spPr/>
        <p:txBody>
          <a:bodyPr/>
          <a:lstStyle/>
          <a:p>
            <a:endParaRPr/>
          </a:p>
        </p:txBody>
      </p:sp>
    </p:spTree>
    <p:extLst>
      <p:ext uri="{BB962C8B-B14F-4D97-AF65-F5344CB8AC3E}">
        <p14:creationId xmlns:p14="http://schemas.microsoft.com/office/powerpoint/2010/main" val="3770944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4"/>
          </p:nvPr>
        </p:nvSpPr>
        <p:spPr/>
        <p:txBody>
          <a:bodyPr/>
          <a:lstStyle/>
          <a:p>
            <a:r>
              <a:rPr lang="en-US"/>
              <a:t>ASSESSMENT TO DATA ANALYSIS AND BI - FOUOTSOP FOSSO PATRICK</a:t>
            </a:r>
            <a:endParaRPr/>
          </a:p>
        </p:txBody>
      </p:sp>
      <p:sp>
        <p:nvSpPr>
          <p:cNvPr id="5" name="PlaceHolder 4"/>
          <p:cNvSpPr>
            <a:spLocks noGrp="1"/>
          </p:cNvSpPr>
          <p:nvPr>
            <p:ph type="sldNum" idx="5"/>
          </p:nvPr>
        </p:nvSpPr>
        <p:spPr/>
        <p:txBody>
          <a:bodyPr/>
          <a:lstStyle/>
          <a:p>
            <a:fld id="{45C7FD21-836B-4760-A11D-B28FF9B72DB7}" type="slidenum">
              <a:t>‹#›</a:t>
            </a:fld>
            <a:endParaRPr/>
          </a:p>
        </p:txBody>
      </p:sp>
      <p:sp>
        <p:nvSpPr>
          <p:cNvPr id="6" name="PlaceHolder 5"/>
          <p:cNvSpPr>
            <a:spLocks noGrp="1"/>
          </p:cNvSpPr>
          <p:nvPr>
            <p:ph type="dt" idx="6"/>
          </p:nvPr>
        </p:nvSpPr>
        <p:spPr/>
        <p:txBody>
          <a:bodyPr/>
          <a:lstStyle/>
          <a:p>
            <a:endParaRPr/>
          </a:p>
        </p:txBody>
      </p:sp>
    </p:spTree>
    <p:extLst>
      <p:ext uri="{BB962C8B-B14F-4D97-AF65-F5344CB8AC3E}">
        <p14:creationId xmlns:p14="http://schemas.microsoft.com/office/powerpoint/2010/main" val="35896170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4" name="PlaceHolder 3"/>
          <p:cNvSpPr>
            <a:spLocks noGrp="1"/>
          </p:cNvSpPr>
          <p:nvPr>
            <p:ph type="ftr" idx="4"/>
          </p:nvPr>
        </p:nvSpPr>
        <p:spPr/>
        <p:txBody>
          <a:bodyPr/>
          <a:lstStyle/>
          <a:p>
            <a:r>
              <a:rPr lang="en-US"/>
              <a:t>ASSESSMENT TO DATA ANALYSIS AND BI - FOUOTSOP FOSSO PATRICK</a:t>
            </a:r>
            <a:endParaRPr/>
          </a:p>
        </p:txBody>
      </p:sp>
      <p:sp>
        <p:nvSpPr>
          <p:cNvPr id="5" name="PlaceHolder 4"/>
          <p:cNvSpPr>
            <a:spLocks noGrp="1"/>
          </p:cNvSpPr>
          <p:nvPr>
            <p:ph type="sldNum" idx="5"/>
          </p:nvPr>
        </p:nvSpPr>
        <p:spPr/>
        <p:txBody>
          <a:bodyPr/>
          <a:lstStyle/>
          <a:p>
            <a:fld id="{B0E6805A-8396-428A-9203-86686067FE41}" type="slidenum">
              <a:t>‹#›</a:t>
            </a:fld>
            <a:endParaRPr/>
          </a:p>
        </p:txBody>
      </p:sp>
      <p:sp>
        <p:nvSpPr>
          <p:cNvPr id="6" name="PlaceHolder 5"/>
          <p:cNvSpPr>
            <a:spLocks noGrp="1"/>
          </p:cNvSpPr>
          <p:nvPr>
            <p:ph type="dt" idx="6"/>
          </p:nvPr>
        </p:nvSpPr>
        <p:spPr/>
        <p:txBody>
          <a:bodyPr/>
          <a:lstStyle/>
          <a:p>
            <a:endParaRPr/>
          </a:p>
        </p:txBody>
      </p:sp>
    </p:spTree>
    <p:extLst>
      <p:ext uri="{BB962C8B-B14F-4D97-AF65-F5344CB8AC3E}">
        <p14:creationId xmlns:p14="http://schemas.microsoft.com/office/powerpoint/2010/main" val="1630440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rPr lang="en-US"/>
              <a:t>ASSESSMENT TO DATA ANALYSIS AND BI - FOUOTSOP FOSSO PATRICK</a:t>
            </a:r>
            <a:endParaRPr/>
          </a:p>
        </p:txBody>
      </p:sp>
      <p:sp>
        <p:nvSpPr>
          <p:cNvPr id="6" name="PlaceHolder 5"/>
          <p:cNvSpPr>
            <a:spLocks noGrp="1"/>
          </p:cNvSpPr>
          <p:nvPr>
            <p:ph type="sldNum" idx="5"/>
          </p:nvPr>
        </p:nvSpPr>
        <p:spPr/>
        <p:txBody>
          <a:bodyPr/>
          <a:lstStyle/>
          <a:p>
            <a:fld id="{4FE4F24B-127C-48E9-AAA3-ED557BC532C6}" type="slidenum">
              <a:t>‹#›</a:t>
            </a:fld>
            <a:endParaRPr/>
          </a:p>
        </p:txBody>
      </p:sp>
      <p:sp>
        <p:nvSpPr>
          <p:cNvPr id="7" name="PlaceHolder 6"/>
          <p:cNvSpPr>
            <a:spLocks noGrp="1"/>
          </p:cNvSpPr>
          <p:nvPr>
            <p:ph type="dt" idx="6"/>
          </p:nvPr>
        </p:nvSpPr>
        <p:spPr/>
        <p:txBody>
          <a:bodyPr/>
          <a:lstStyle/>
          <a:p>
            <a:endParaRPr/>
          </a:p>
        </p:txBody>
      </p:sp>
    </p:spTree>
    <p:extLst>
      <p:ext uri="{BB962C8B-B14F-4D97-AF65-F5344CB8AC3E}">
        <p14:creationId xmlns:p14="http://schemas.microsoft.com/office/powerpoint/2010/main" val="1867202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3" name="PlaceHolder 2"/>
          <p:cNvSpPr>
            <a:spLocks noGrp="1"/>
          </p:cNvSpPr>
          <p:nvPr>
            <p:ph type="ftr" idx="4"/>
          </p:nvPr>
        </p:nvSpPr>
        <p:spPr/>
        <p:txBody>
          <a:bodyPr/>
          <a:lstStyle/>
          <a:p>
            <a:r>
              <a:rPr lang="en-US"/>
              <a:t>ASSESSMENT TO DATA ANALYSIS AND BI - FOUOTSOP FOSSO PATRICK</a:t>
            </a:r>
            <a:endParaRPr/>
          </a:p>
        </p:txBody>
      </p:sp>
      <p:sp>
        <p:nvSpPr>
          <p:cNvPr id="4" name="PlaceHolder 3"/>
          <p:cNvSpPr>
            <a:spLocks noGrp="1"/>
          </p:cNvSpPr>
          <p:nvPr>
            <p:ph type="sldNum" idx="5"/>
          </p:nvPr>
        </p:nvSpPr>
        <p:spPr/>
        <p:txBody>
          <a:bodyPr/>
          <a:lstStyle/>
          <a:p>
            <a:fld id="{AEFC5F7B-12A7-4BA5-B4E8-F47CBBAF0B79}" type="slidenum">
              <a:t>‹#›</a:t>
            </a:fld>
            <a:endParaRPr/>
          </a:p>
        </p:txBody>
      </p:sp>
      <p:sp>
        <p:nvSpPr>
          <p:cNvPr id="5" name="PlaceHolder 4"/>
          <p:cNvSpPr>
            <a:spLocks noGrp="1"/>
          </p:cNvSpPr>
          <p:nvPr>
            <p:ph type="dt" idx="6"/>
          </p:nvPr>
        </p:nvSpPr>
        <p:spPr/>
        <p:txBody>
          <a:bodyPr/>
          <a:lstStyle/>
          <a:p>
            <a:endParaRPr/>
          </a:p>
        </p:txBody>
      </p:sp>
    </p:spTree>
    <p:extLst>
      <p:ext uri="{BB962C8B-B14F-4D97-AF65-F5344CB8AC3E}">
        <p14:creationId xmlns:p14="http://schemas.microsoft.com/office/powerpoint/2010/main" val="454943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4"/>
          </p:nvPr>
        </p:nvSpPr>
        <p:spPr/>
        <p:txBody>
          <a:bodyPr/>
          <a:lstStyle/>
          <a:p>
            <a:r>
              <a:rPr lang="en-US"/>
              <a:t>ASSESSMENT TO DATA ANALYSIS AND BI - FOUOTSOP FOSSO PATRICK</a:t>
            </a:r>
            <a:endParaRPr/>
          </a:p>
        </p:txBody>
      </p:sp>
      <p:sp>
        <p:nvSpPr>
          <p:cNvPr id="4" name="PlaceHolder 3"/>
          <p:cNvSpPr>
            <a:spLocks noGrp="1"/>
          </p:cNvSpPr>
          <p:nvPr>
            <p:ph type="sldNum" idx="5"/>
          </p:nvPr>
        </p:nvSpPr>
        <p:spPr/>
        <p:txBody>
          <a:bodyPr/>
          <a:lstStyle/>
          <a:p>
            <a:fld id="{D9F3D515-A1CB-4F07-9A8F-3CF07ABE9127}" type="slidenum">
              <a:t>‹#›</a:t>
            </a:fld>
            <a:endParaRPr/>
          </a:p>
        </p:txBody>
      </p:sp>
      <p:sp>
        <p:nvSpPr>
          <p:cNvPr id="5" name="PlaceHolder 4"/>
          <p:cNvSpPr>
            <a:spLocks noGrp="1"/>
          </p:cNvSpPr>
          <p:nvPr>
            <p:ph type="dt" idx="6"/>
          </p:nvPr>
        </p:nvSpPr>
        <p:spPr/>
        <p:txBody>
          <a:bodyPr/>
          <a:lstStyle/>
          <a:p>
            <a:endParaRPr/>
          </a:p>
        </p:txBody>
      </p:sp>
    </p:spTree>
    <p:extLst>
      <p:ext uri="{BB962C8B-B14F-4D97-AF65-F5344CB8AC3E}">
        <p14:creationId xmlns:p14="http://schemas.microsoft.com/office/powerpoint/2010/main" val="34780180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rPr lang="en-US"/>
              <a:t>ASSESSMENT TO DATA ANALYSIS AND BI - FOUOTSOP FOSSO PATRICK</a:t>
            </a:r>
            <a:endParaRPr/>
          </a:p>
        </p:txBody>
      </p:sp>
      <p:sp>
        <p:nvSpPr>
          <p:cNvPr id="7" name="PlaceHolder 6"/>
          <p:cNvSpPr>
            <a:spLocks noGrp="1"/>
          </p:cNvSpPr>
          <p:nvPr>
            <p:ph type="sldNum" idx="5"/>
          </p:nvPr>
        </p:nvSpPr>
        <p:spPr/>
        <p:txBody>
          <a:bodyPr/>
          <a:lstStyle/>
          <a:p>
            <a:fld id="{A67F5E1F-E6F2-4519-9C0D-859178309B0F}" type="slidenum">
              <a:t>‹#›</a:t>
            </a:fld>
            <a:endParaRPr/>
          </a:p>
        </p:txBody>
      </p:sp>
      <p:sp>
        <p:nvSpPr>
          <p:cNvPr id="8" name="PlaceHolder 7"/>
          <p:cNvSpPr>
            <a:spLocks noGrp="1"/>
          </p:cNvSpPr>
          <p:nvPr>
            <p:ph type="dt" idx="6"/>
          </p:nvPr>
        </p:nvSpPr>
        <p:spPr/>
        <p:txBody>
          <a:bodyPr/>
          <a:lstStyle/>
          <a:p>
            <a:endParaRPr/>
          </a:p>
        </p:txBody>
      </p:sp>
    </p:spTree>
    <p:extLst>
      <p:ext uri="{BB962C8B-B14F-4D97-AF65-F5344CB8AC3E}">
        <p14:creationId xmlns:p14="http://schemas.microsoft.com/office/powerpoint/2010/main" val="38561227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rPr lang="en-US"/>
              <a:t>ASSESSMENT TO DATA ANALYSIS AND BI - FOUOTSOP FOSSO PATRICK</a:t>
            </a:r>
            <a:endParaRPr/>
          </a:p>
        </p:txBody>
      </p:sp>
      <p:sp>
        <p:nvSpPr>
          <p:cNvPr id="7" name="PlaceHolder 6"/>
          <p:cNvSpPr>
            <a:spLocks noGrp="1"/>
          </p:cNvSpPr>
          <p:nvPr>
            <p:ph type="sldNum" idx="5"/>
          </p:nvPr>
        </p:nvSpPr>
        <p:spPr/>
        <p:txBody>
          <a:bodyPr/>
          <a:lstStyle/>
          <a:p>
            <a:fld id="{0EFE1D29-1024-45E0-8931-1DAD84709040}" type="slidenum">
              <a:t>‹#›</a:t>
            </a:fld>
            <a:endParaRPr/>
          </a:p>
        </p:txBody>
      </p:sp>
      <p:sp>
        <p:nvSpPr>
          <p:cNvPr id="8" name="PlaceHolder 7"/>
          <p:cNvSpPr>
            <a:spLocks noGrp="1"/>
          </p:cNvSpPr>
          <p:nvPr>
            <p:ph type="dt" idx="6"/>
          </p:nvPr>
        </p:nvSpPr>
        <p:spPr/>
        <p:txBody>
          <a:bodyPr/>
          <a:lstStyle/>
          <a:p>
            <a:endParaRPr/>
          </a:p>
        </p:txBody>
      </p:sp>
    </p:spTree>
    <p:extLst>
      <p:ext uri="{BB962C8B-B14F-4D97-AF65-F5344CB8AC3E}">
        <p14:creationId xmlns:p14="http://schemas.microsoft.com/office/powerpoint/2010/main" val="1938289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6"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 name="PlaceHolder 5"/>
          <p:cNvSpPr>
            <a:spLocks noGrp="1"/>
          </p:cNvSpPr>
          <p:nvPr>
            <p:ph type="ftr" idx="4"/>
          </p:nvPr>
        </p:nvSpPr>
        <p:spPr/>
        <p:txBody>
          <a:bodyPr/>
          <a:lstStyle/>
          <a:p>
            <a:r>
              <a:rPr lang="en-US"/>
              <a:t>ASSESSMENT TO DATA ANALYSIS AND BI - FOUOTSOP FOSSO PATRICK</a:t>
            </a:r>
            <a:endParaRPr/>
          </a:p>
        </p:txBody>
      </p:sp>
      <p:sp>
        <p:nvSpPr>
          <p:cNvPr id="7" name="PlaceHolder 6"/>
          <p:cNvSpPr>
            <a:spLocks noGrp="1"/>
          </p:cNvSpPr>
          <p:nvPr>
            <p:ph type="sldNum" idx="5"/>
          </p:nvPr>
        </p:nvSpPr>
        <p:spPr/>
        <p:txBody>
          <a:bodyPr/>
          <a:lstStyle/>
          <a:p>
            <a:fld id="{5202649C-5B75-41B5-BD1E-5AC71FA0A10A}" type="slidenum">
              <a:t>‹#›</a:t>
            </a:fld>
            <a:endParaRPr/>
          </a:p>
        </p:txBody>
      </p:sp>
      <p:sp>
        <p:nvSpPr>
          <p:cNvPr id="8" name="PlaceHolder 7"/>
          <p:cNvSpPr>
            <a:spLocks noGrp="1"/>
          </p:cNvSpPr>
          <p:nvPr>
            <p:ph type="dt" idx="6"/>
          </p:nvPr>
        </p:nvSpPr>
        <p:spPr/>
        <p:txBody>
          <a:bodyPr/>
          <a:lstStyle/>
          <a:p>
            <a:endParaRPr/>
          </a:p>
        </p:txBody>
      </p:sp>
    </p:spTree>
    <p:extLst>
      <p:ext uri="{BB962C8B-B14F-4D97-AF65-F5344CB8AC3E}">
        <p14:creationId xmlns:p14="http://schemas.microsoft.com/office/powerpoint/2010/main" val="4073695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68"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69"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5" name="PlaceHolder 4"/>
          <p:cNvSpPr>
            <a:spLocks noGrp="1"/>
          </p:cNvSpPr>
          <p:nvPr>
            <p:ph type="ftr" idx="4"/>
          </p:nvPr>
        </p:nvSpPr>
        <p:spPr/>
        <p:txBody>
          <a:bodyPr/>
          <a:lstStyle/>
          <a:p>
            <a:r>
              <a:rPr lang="en-US"/>
              <a:t>ASSESSMENT TO DATA ANALYSIS AND BI - FOUOTSOP FOSSO PATRICK</a:t>
            </a:r>
            <a:endParaRPr/>
          </a:p>
        </p:txBody>
      </p:sp>
      <p:sp>
        <p:nvSpPr>
          <p:cNvPr id="6" name="PlaceHolder 5"/>
          <p:cNvSpPr>
            <a:spLocks noGrp="1"/>
          </p:cNvSpPr>
          <p:nvPr>
            <p:ph type="sldNum" idx="5"/>
          </p:nvPr>
        </p:nvSpPr>
        <p:spPr/>
        <p:txBody>
          <a:bodyPr/>
          <a:lstStyle/>
          <a:p>
            <a:fld id="{D15F05F0-2147-4F08-985C-E0953BEB734D}" type="slidenum">
              <a:t>‹#›</a:t>
            </a:fld>
            <a:endParaRPr/>
          </a:p>
        </p:txBody>
      </p:sp>
      <p:sp>
        <p:nvSpPr>
          <p:cNvPr id="7" name="PlaceHolder 6"/>
          <p:cNvSpPr>
            <a:spLocks noGrp="1"/>
          </p:cNvSpPr>
          <p:nvPr>
            <p:ph type="dt" idx="6"/>
          </p:nvPr>
        </p:nvSpPr>
        <p:spPr/>
        <p:txBody>
          <a:bodyPr/>
          <a:lstStyle/>
          <a:p>
            <a:endParaRPr/>
          </a:p>
        </p:txBody>
      </p:sp>
    </p:spTree>
    <p:extLst>
      <p:ext uri="{BB962C8B-B14F-4D97-AF65-F5344CB8AC3E}">
        <p14:creationId xmlns:p14="http://schemas.microsoft.com/office/powerpoint/2010/main" val="39985075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 name="PlaceHolder 6"/>
          <p:cNvSpPr>
            <a:spLocks noGrp="1"/>
          </p:cNvSpPr>
          <p:nvPr>
            <p:ph type="ftr" idx="4"/>
          </p:nvPr>
        </p:nvSpPr>
        <p:spPr/>
        <p:txBody>
          <a:bodyPr/>
          <a:lstStyle/>
          <a:p>
            <a:r>
              <a:rPr lang="en-US"/>
              <a:t>ASSESSMENT TO DATA ANALYSIS AND BI - FOUOTSOP FOSSO PATRICK</a:t>
            </a:r>
            <a:endParaRPr/>
          </a:p>
        </p:txBody>
      </p:sp>
      <p:sp>
        <p:nvSpPr>
          <p:cNvPr id="8" name="PlaceHolder 7"/>
          <p:cNvSpPr>
            <a:spLocks noGrp="1"/>
          </p:cNvSpPr>
          <p:nvPr>
            <p:ph type="sldNum" idx="5"/>
          </p:nvPr>
        </p:nvSpPr>
        <p:spPr/>
        <p:txBody>
          <a:bodyPr/>
          <a:lstStyle/>
          <a:p>
            <a:fld id="{B6E42845-E3F6-4228-A5C3-03E7C188788C}" type="slidenum">
              <a:t>‹#›</a:t>
            </a:fld>
            <a:endParaRPr/>
          </a:p>
        </p:txBody>
      </p:sp>
      <p:sp>
        <p:nvSpPr>
          <p:cNvPr id="9" name="PlaceHolder 8"/>
          <p:cNvSpPr>
            <a:spLocks noGrp="1"/>
          </p:cNvSpPr>
          <p:nvPr>
            <p:ph type="dt" idx="6"/>
          </p:nvPr>
        </p:nvSpPr>
        <p:spPr/>
        <p:txBody>
          <a:bodyPr/>
          <a:lstStyle/>
          <a:p>
            <a:endParaRPr/>
          </a:p>
        </p:txBody>
      </p:sp>
    </p:spTree>
    <p:extLst>
      <p:ext uri="{BB962C8B-B14F-4D97-AF65-F5344CB8AC3E}">
        <p14:creationId xmlns:p14="http://schemas.microsoft.com/office/powerpoint/2010/main" val="41827418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endParaRPr lang="en-US" sz="4400" b="0" strike="noStrike" spc="-1">
              <a:latin typeface="Arial"/>
            </a:endParaRPr>
          </a:p>
        </p:txBody>
      </p:sp>
      <p:sp>
        <p:nvSpPr>
          <p:cNvPr id="76"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7"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8"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79"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0"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81"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latin typeface="Arial"/>
            </a:endParaRPr>
          </a:p>
        </p:txBody>
      </p:sp>
      <p:sp>
        <p:nvSpPr>
          <p:cNvPr id="9" name="PlaceHolder 8"/>
          <p:cNvSpPr>
            <a:spLocks noGrp="1"/>
          </p:cNvSpPr>
          <p:nvPr>
            <p:ph type="ftr" idx="4"/>
          </p:nvPr>
        </p:nvSpPr>
        <p:spPr/>
        <p:txBody>
          <a:bodyPr/>
          <a:lstStyle/>
          <a:p>
            <a:r>
              <a:rPr lang="en-US"/>
              <a:t>ASSESSMENT TO DATA ANALYSIS AND BI - FOUOTSOP FOSSO PATRICK</a:t>
            </a:r>
            <a:endParaRPr/>
          </a:p>
        </p:txBody>
      </p:sp>
      <p:sp>
        <p:nvSpPr>
          <p:cNvPr id="10" name="PlaceHolder 9"/>
          <p:cNvSpPr>
            <a:spLocks noGrp="1"/>
          </p:cNvSpPr>
          <p:nvPr>
            <p:ph type="sldNum" idx="5"/>
          </p:nvPr>
        </p:nvSpPr>
        <p:spPr/>
        <p:txBody>
          <a:bodyPr/>
          <a:lstStyle/>
          <a:p>
            <a:fld id="{9267413E-0343-454F-995C-BFA91137224E}" type="slidenum">
              <a:t>‹#›</a:t>
            </a:fld>
            <a:endParaRPr/>
          </a:p>
        </p:txBody>
      </p:sp>
      <p:sp>
        <p:nvSpPr>
          <p:cNvPr id="11" name="PlaceHolder 10"/>
          <p:cNvSpPr>
            <a:spLocks noGrp="1"/>
          </p:cNvSpPr>
          <p:nvPr>
            <p:ph type="dt" idx="6"/>
          </p:nvPr>
        </p:nvSpPr>
        <p:spPr/>
        <p:txBody>
          <a:bodyPr/>
          <a:lstStyle/>
          <a:p>
            <a:endParaRPr/>
          </a:p>
        </p:txBody>
      </p:sp>
    </p:spTree>
    <p:extLst>
      <p:ext uri="{BB962C8B-B14F-4D97-AF65-F5344CB8AC3E}">
        <p14:creationId xmlns:p14="http://schemas.microsoft.com/office/powerpoint/2010/main" val="41182979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Data Integration and Warehousing Assessment - FOUOTSOP FOSSO  PATRICK</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4038480" y="6356520"/>
            <a:ext cx="4113720" cy="363960"/>
          </a:xfrm>
          <a:prstGeom prst="rect">
            <a:avLst/>
          </a:prstGeom>
          <a:noFill/>
          <a:ln w="0">
            <a:noFill/>
          </a:ln>
        </p:spPr>
        <p:txBody>
          <a:bodyPr lIns="90000" tIns="45000" rIns="90000" bIns="45000" anchor="ctr">
            <a:noAutofit/>
          </a:bodyPr>
          <a:lstStyle>
            <a:lvl1pPr algn="ctr">
              <a:lnSpc>
                <a:spcPct val="100000"/>
              </a:lnSpc>
              <a:buNone/>
              <a:defRPr lang="en-US" sz="1200" b="0" strike="noStrike" spc="-1">
                <a:solidFill>
                  <a:srgbClr val="787878"/>
                </a:solidFill>
                <a:latin typeface="Aptos"/>
              </a:defRPr>
            </a:lvl1pPr>
          </a:lstStyle>
          <a:p>
            <a:pPr algn="ctr">
              <a:lnSpc>
                <a:spcPct val="100000"/>
              </a:lnSpc>
              <a:buNone/>
            </a:pPr>
            <a:r>
              <a:rPr lang="en-US" sz="1200" b="0" strike="noStrike" spc="-1">
                <a:solidFill>
                  <a:srgbClr val="787878"/>
                </a:solidFill>
                <a:latin typeface="Aptos"/>
              </a:rPr>
              <a:t>ASSESSMENT TO DATA ANALYSIS AND BI - FOUOTSOP FOSSO PATRICK</a:t>
            </a:r>
            <a:endParaRPr lang="en-US" sz="1200" b="0" strike="noStrike" spc="-1">
              <a:latin typeface="Times New Roman"/>
            </a:endParaRPr>
          </a:p>
        </p:txBody>
      </p:sp>
      <p:sp>
        <p:nvSpPr>
          <p:cNvPr id="42" name="PlaceHolder 2"/>
          <p:cNvSpPr>
            <a:spLocks noGrp="1"/>
          </p:cNvSpPr>
          <p:nvPr>
            <p:ph type="sldNum" idx="5"/>
          </p:nvPr>
        </p:nvSpPr>
        <p:spPr>
          <a:xfrm>
            <a:off x="8610480" y="6356520"/>
            <a:ext cx="2742120" cy="363960"/>
          </a:xfrm>
          <a:prstGeom prst="rect">
            <a:avLst/>
          </a:prstGeom>
          <a:noFill/>
          <a:ln w="0">
            <a:noFill/>
          </a:ln>
        </p:spPr>
        <p:txBody>
          <a:bodyPr lIns="90000" tIns="45000" rIns="90000" bIns="45000" anchor="ctr">
            <a:noAutofit/>
          </a:bodyPr>
          <a:lstStyle>
            <a:lvl1pPr algn="r">
              <a:lnSpc>
                <a:spcPct val="100000"/>
              </a:lnSpc>
              <a:buNone/>
              <a:defRPr lang="en-US" sz="1200" b="0" strike="noStrike" spc="-1">
                <a:solidFill>
                  <a:srgbClr val="787878"/>
                </a:solidFill>
                <a:latin typeface="Aptos"/>
              </a:defRPr>
            </a:lvl1pPr>
          </a:lstStyle>
          <a:p>
            <a:pPr algn="r">
              <a:lnSpc>
                <a:spcPct val="100000"/>
              </a:lnSpc>
              <a:buNone/>
            </a:pPr>
            <a:fld id="{EC6160D7-307F-4F3F-B76A-B85A78C1BE73}" type="slidenum">
              <a:rPr lang="en-US" sz="1200" b="0" strike="noStrike" spc="-1">
                <a:solidFill>
                  <a:srgbClr val="787878"/>
                </a:solidFill>
                <a:latin typeface="Aptos"/>
              </a:rPr>
              <a:t>‹#›</a:t>
            </a:fld>
            <a:endParaRPr lang="en-US" sz="1200" b="0" strike="noStrike" spc="-1">
              <a:latin typeface="Times New Roman"/>
            </a:endParaRPr>
          </a:p>
        </p:txBody>
      </p:sp>
      <p:sp>
        <p:nvSpPr>
          <p:cNvPr id="43" name="PlaceHolder 3"/>
          <p:cNvSpPr>
            <a:spLocks noGrp="1"/>
          </p:cNvSpPr>
          <p:nvPr>
            <p:ph type="dt" idx="6"/>
          </p:nvPr>
        </p:nvSpPr>
        <p:spPr>
          <a:xfrm>
            <a:off x="838080" y="6356520"/>
            <a:ext cx="2742120" cy="363960"/>
          </a:xfrm>
          <a:prstGeom prst="rect">
            <a:avLst/>
          </a:prstGeom>
          <a:noFill/>
          <a:ln w="0">
            <a:noFill/>
          </a:ln>
        </p:spPr>
        <p:txBody>
          <a:bodyPr lIns="90000" tIns="45000" rIns="90000" bIns="45000" anchor="ctr">
            <a:noAutofit/>
          </a:bodyPr>
          <a:lstStyle>
            <a:lvl1pPr>
              <a:defRPr lang="en-US" sz="1400" b="0" strike="noStrike" spc="-1">
                <a:latin typeface="Times New Roman"/>
              </a:defRPr>
            </a:lvl1pPr>
          </a:lstStyle>
          <a:p>
            <a:endParaRPr lang="en-US" sz="1400" b="0" strike="noStrike" spc="-1">
              <a:latin typeface="Times New Roman"/>
            </a:endParaRPr>
          </a:p>
        </p:txBody>
      </p:sp>
      <p:sp>
        <p:nvSpPr>
          <p:cNvPr id="4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buNone/>
            </a:pPr>
            <a:r>
              <a:rPr lang="en-US" sz="4400" b="0" strike="noStrike" spc="-1">
                <a:latin typeface="Arial"/>
              </a:rPr>
              <a:t>Click to edit the title text format</a:t>
            </a:r>
          </a:p>
        </p:txBody>
      </p:sp>
      <p:sp>
        <p:nvSpPr>
          <p:cNvPr id="4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extLst>
      <p:ext uri="{BB962C8B-B14F-4D97-AF65-F5344CB8AC3E}">
        <p14:creationId xmlns:p14="http://schemas.microsoft.com/office/powerpoint/2010/main" val="19829147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M"/>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patrickfosso49@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ata.humdata.org/dataset/cmr-idmc-idu-event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449" y="1337853"/>
            <a:ext cx="12057099" cy="2114225"/>
          </a:xfrm>
        </p:spPr>
        <p:txBody>
          <a:bodyPr>
            <a:noAutofit/>
          </a:bodyPr>
          <a:lstStyle/>
          <a:p>
            <a:r>
              <a:rPr lang="en-US" dirty="0"/>
              <a:t>A BI approach to understand </a:t>
            </a:r>
            <a:r>
              <a:rPr lang="en-US" dirty="0" err="1"/>
              <a:t>humaniterian</a:t>
            </a:r>
            <a:r>
              <a:rPr lang="en-US" dirty="0"/>
              <a:t> crisis and displacement: Case Study of the Cameroon IDU dataset</a:t>
            </a:r>
            <a:endParaRPr lang="en-US" sz="4800" dirty="0"/>
          </a:p>
        </p:txBody>
      </p:sp>
      <p:sp>
        <p:nvSpPr>
          <p:cNvPr id="3" name="Subtitle 2"/>
          <p:cNvSpPr>
            <a:spLocks noGrp="1"/>
          </p:cNvSpPr>
          <p:nvPr>
            <p:ph type="subTitle" idx="1"/>
          </p:nvPr>
        </p:nvSpPr>
        <p:spPr>
          <a:xfrm>
            <a:off x="1524000" y="3500028"/>
            <a:ext cx="9144000" cy="548706"/>
          </a:xfrm>
        </p:spPr>
        <p:txBody>
          <a:bodyPr vert="horz" lIns="91440" tIns="45720" rIns="91440" bIns="45720" rtlCol="0" anchor="t">
            <a:normAutofit/>
          </a:bodyPr>
          <a:lstStyle/>
          <a:p>
            <a:r>
              <a:rPr lang="en-US" dirty="0"/>
              <a:t>June 2026</a:t>
            </a:r>
          </a:p>
        </p:txBody>
      </p:sp>
      <p:sp>
        <p:nvSpPr>
          <p:cNvPr id="6" name="TextBox 5">
            <a:extLst>
              <a:ext uri="{FF2B5EF4-FFF2-40B4-BE49-F238E27FC236}">
                <a16:creationId xmlns:a16="http://schemas.microsoft.com/office/drawing/2014/main" id="{C6973E03-8FA4-0A4B-F2A9-5D73EE466237}"/>
              </a:ext>
            </a:extLst>
          </p:cNvPr>
          <p:cNvSpPr txBox="1"/>
          <p:nvPr/>
        </p:nvSpPr>
        <p:spPr>
          <a:xfrm>
            <a:off x="1949402" y="4516851"/>
            <a:ext cx="863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FOUOTSOP FOSSO PATRICK</a:t>
            </a:r>
          </a:p>
        </p:txBody>
      </p:sp>
      <p:sp>
        <p:nvSpPr>
          <p:cNvPr id="7" name="TextBox 6">
            <a:extLst>
              <a:ext uri="{FF2B5EF4-FFF2-40B4-BE49-F238E27FC236}">
                <a16:creationId xmlns:a16="http://schemas.microsoft.com/office/drawing/2014/main" id="{CB296787-66B2-11A1-4ADF-7672C484719D}"/>
              </a:ext>
            </a:extLst>
          </p:cNvPr>
          <p:cNvSpPr txBox="1"/>
          <p:nvPr/>
        </p:nvSpPr>
        <p:spPr>
          <a:xfrm>
            <a:off x="1977192" y="5150815"/>
            <a:ext cx="856915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dirty="0">
                <a:solidFill>
                  <a:srgbClr val="FA884B"/>
                </a:solidFill>
                <a:hlinkClick r:id="rId2">
                  <a:extLst>
                    <a:ext uri="{A12FA001-AC4F-418D-AE19-62706E023703}">
                      <ahyp:hlinkClr xmlns:ahyp="http://schemas.microsoft.com/office/drawing/2018/hyperlinkcolor" val="tx"/>
                    </a:ext>
                  </a:extLst>
                </a:hlinkClick>
              </a:rPr>
              <a:t>patrickfosso49@gmail.com</a:t>
            </a:r>
            <a:endParaRPr lang="en-US" dirty="0">
              <a:solidFill>
                <a:srgbClr val="FA884B"/>
              </a:solidFill>
            </a:endParaRPr>
          </a:p>
        </p:txBody>
      </p:sp>
      <p:sp>
        <p:nvSpPr>
          <p:cNvPr id="8" name="Rectangle 7">
            <a:extLst>
              <a:ext uri="{FF2B5EF4-FFF2-40B4-BE49-F238E27FC236}">
                <a16:creationId xmlns:a16="http://schemas.microsoft.com/office/drawing/2014/main" id="{B8AC893B-9318-FBA8-A014-301B0F4D8CEA}"/>
              </a:ext>
            </a:extLst>
          </p:cNvPr>
          <p:cNvSpPr/>
          <p:nvPr/>
        </p:nvSpPr>
        <p:spPr>
          <a:xfrm>
            <a:off x="1979048" y="1815"/>
            <a:ext cx="10213959" cy="624129"/>
          </a:xfrm>
          <a:prstGeom prst="rect">
            <a:avLst/>
          </a:prstGeom>
          <a:solidFill>
            <a:srgbClr val="FA88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7DDA15B-C03D-6017-A008-D5B9B4E6D70E}"/>
              </a:ext>
            </a:extLst>
          </p:cNvPr>
          <p:cNvSpPr/>
          <p:nvPr/>
        </p:nvSpPr>
        <p:spPr>
          <a:xfrm>
            <a:off x="0" y="6254151"/>
            <a:ext cx="12191999" cy="603848"/>
          </a:xfrm>
          <a:prstGeom prst="rect">
            <a:avLst/>
          </a:prstGeom>
          <a:solidFill>
            <a:srgbClr val="FA88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logo for a company&#10;&#10;Description automatically generated">
            <a:extLst>
              <a:ext uri="{FF2B5EF4-FFF2-40B4-BE49-F238E27FC236}">
                <a16:creationId xmlns:a16="http://schemas.microsoft.com/office/drawing/2014/main" id="{1E55C7C4-E2FD-BF9B-CF72-D1DE2022A140}"/>
              </a:ext>
            </a:extLst>
          </p:cNvPr>
          <p:cNvPicPr>
            <a:picLocks noChangeAspect="1"/>
          </p:cNvPicPr>
          <p:nvPr/>
        </p:nvPicPr>
        <p:blipFill>
          <a:blip r:embed="rId3"/>
          <a:srcRect l="-49" t="-323" r="-528" b="-1762"/>
          <a:stretch/>
        </p:blipFill>
        <p:spPr>
          <a:xfrm>
            <a:off x="74555" y="6719"/>
            <a:ext cx="1906695" cy="624721"/>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F8EF5-AB7F-C7B5-091D-16A7F77833ED}"/>
            </a:ext>
          </a:extLst>
        </p:cNvPr>
        <p:cNvGrpSpPr/>
        <p:nvPr/>
      </p:nvGrpSpPr>
      <p:grpSpPr>
        <a:xfrm>
          <a:off x="0" y="0"/>
          <a:ext cx="0" cy="0"/>
          <a:chOff x="0" y="0"/>
          <a:chExt cx="0" cy="0"/>
        </a:xfrm>
      </p:grpSpPr>
      <p:sp>
        <p:nvSpPr>
          <p:cNvPr id="96" name="PlaceHolder 1">
            <a:extLst>
              <a:ext uri="{FF2B5EF4-FFF2-40B4-BE49-F238E27FC236}">
                <a16:creationId xmlns:a16="http://schemas.microsoft.com/office/drawing/2014/main" id="{307CBE59-F601-9226-915D-25D632049AAE}"/>
              </a:ext>
            </a:extLst>
          </p:cNvPr>
          <p:cNvSpPr>
            <a:spLocks noGrp="1"/>
          </p:cNvSpPr>
          <p:nvPr>
            <p:ph type="title"/>
          </p:nvPr>
        </p:nvSpPr>
        <p:spPr>
          <a:xfrm>
            <a:off x="9720" y="-8640"/>
            <a:ext cx="12174480" cy="1065600"/>
          </a:xfrm>
          <a:prstGeom prst="rect">
            <a:avLst/>
          </a:prstGeom>
          <a:noFill/>
          <a:ln w="0">
            <a:noFill/>
          </a:ln>
        </p:spPr>
        <p:txBody>
          <a:bodyPr lIns="90000" tIns="45000" rIns="90000" bIns="45000" anchor="ctr">
            <a:normAutofit/>
          </a:bodyPr>
          <a:lstStyle/>
          <a:p>
            <a:pPr algn="ctr">
              <a:lnSpc>
                <a:spcPct val="90000"/>
              </a:lnSpc>
              <a:buNone/>
            </a:pPr>
            <a:r>
              <a:rPr lang="en-US" sz="4800" spc="-1" dirty="0">
                <a:solidFill>
                  <a:srgbClr val="000000"/>
                </a:solidFill>
                <a:latin typeface="Aptos Display"/>
              </a:rPr>
              <a:t>Context</a:t>
            </a:r>
            <a:endParaRPr lang="en-US" sz="4800" b="0" strike="noStrike" spc="-1" dirty="0">
              <a:latin typeface="Arial"/>
            </a:endParaRPr>
          </a:p>
        </p:txBody>
      </p:sp>
      <p:sp>
        <p:nvSpPr>
          <p:cNvPr id="4" name="PlaceHolder 3">
            <a:extLst>
              <a:ext uri="{FF2B5EF4-FFF2-40B4-BE49-F238E27FC236}">
                <a16:creationId xmlns:a16="http://schemas.microsoft.com/office/drawing/2014/main" id="{CB49D2D7-09AF-4902-32D6-6C1E47748DA3}"/>
              </a:ext>
            </a:extLst>
          </p:cNvPr>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17E7B7-BCF8-4704-9E3D-2FA3729F2199}" type="slidenum">
              <a:rPr kumimoji="0" lang="en-US" sz="1200" b="0" i="0" u="none" strike="noStrike" kern="1200" cap="none" spc="-1" normalizeH="0" baseline="0" noProof="0">
                <a:ln>
                  <a:noFill/>
                </a:ln>
                <a:solidFill>
                  <a:srgbClr val="787878"/>
                </a:solidFill>
                <a:effectLst/>
                <a:uLnTx/>
                <a:uFillTx/>
                <a:latin typeface="Apto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1" normalizeH="0" baseline="0" noProof="0">
              <a:ln>
                <a:noFill/>
              </a:ln>
              <a:solidFill>
                <a:srgbClr val="787878"/>
              </a:solidFill>
              <a:effectLst/>
              <a:uLnTx/>
              <a:uFillTx/>
              <a:latin typeface="Aptos"/>
            </a:endParaRPr>
          </a:p>
        </p:txBody>
      </p:sp>
      <p:sp>
        <p:nvSpPr>
          <p:cNvPr id="5" name="TextBox 4">
            <a:extLst>
              <a:ext uri="{FF2B5EF4-FFF2-40B4-BE49-F238E27FC236}">
                <a16:creationId xmlns:a16="http://schemas.microsoft.com/office/drawing/2014/main" id="{F5D351FC-9882-5456-D599-4CD5AD1872D2}"/>
              </a:ext>
            </a:extLst>
          </p:cNvPr>
          <p:cNvSpPr txBox="1"/>
          <p:nvPr/>
        </p:nvSpPr>
        <p:spPr>
          <a:xfrm>
            <a:off x="375790" y="947599"/>
            <a:ext cx="11384088" cy="5563831"/>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rPr>
              <a:t>The IDU (Internal Displacement Updates) dataset, provided by the Internal Displacement Monitoring Centre (IDMC), offers timely event data and provisional information on new internal displacements caused by conflicts and disasters. Representing the most recent available information, the IDU is updated daily and focuses on new displacements.</a:t>
            </a:r>
          </a:p>
          <a:p>
            <a:pPr marL="0" marR="0" lvl="0" indent="0" algn="just" defTabSz="914400" rtl="0" eaLnBrk="1" fontAlgn="auto" latinLnBrk="0" hangingPunct="1">
              <a:lnSpc>
                <a:spcPct val="150000"/>
              </a:lnSpc>
              <a:spcBef>
                <a:spcPts val="0"/>
              </a:spcBef>
              <a:spcAft>
                <a:spcPts val="0"/>
              </a:spcAft>
              <a:buClrTx/>
              <a:buSzTx/>
              <a:buFontTx/>
              <a:buNone/>
              <a:tabLst/>
              <a:defRPr/>
            </a:pPr>
            <a:r>
              <a:rPr lang="en-US" sz="2400" dirty="0">
                <a:solidFill>
                  <a:prstClr val="black"/>
                </a:solidFill>
              </a:rPr>
              <a:t>The IDMC's Event data, sourced from the Internal Displacement Updates (IDU), offers initial assessments of internal displacements reported since the beginning of 2025. This dataset provides provisional information that is continually updated on a daily basis, reflecting the availability of data on new displacements arising from conflicts and disasters.</a:t>
            </a:r>
            <a:endParaRPr lang="en-CM" sz="2400" dirty="0">
              <a:solidFill>
                <a:prstClr val="black"/>
              </a:solidFill>
            </a:endParaRPr>
          </a:p>
        </p:txBody>
      </p:sp>
    </p:spTree>
    <p:extLst>
      <p:ext uri="{BB962C8B-B14F-4D97-AF65-F5344CB8AC3E}">
        <p14:creationId xmlns:p14="http://schemas.microsoft.com/office/powerpoint/2010/main" val="4086260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7F166-F35B-5E14-205C-9E5621030459}"/>
            </a:ext>
          </a:extLst>
        </p:cNvPr>
        <p:cNvGrpSpPr/>
        <p:nvPr/>
      </p:nvGrpSpPr>
      <p:grpSpPr>
        <a:xfrm>
          <a:off x="0" y="0"/>
          <a:ext cx="0" cy="0"/>
          <a:chOff x="0" y="0"/>
          <a:chExt cx="0" cy="0"/>
        </a:xfrm>
      </p:grpSpPr>
      <p:sp>
        <p:nvSpPr>
          <p:cNvPr id="96" name="PlaceHolder 1">
            <a:extLst>
              <a:ext uri="{FF2B5EF4-FFF2-40B4-BE49-F238E27FC236}">
                <a16:creationId xmlns:a16="http://schemas.microsoft.com/office/drawing/2014/main" id="{B8AC92DA-9877-D6C1-2858-B52C68C78C04}"/>
              </a:ext>
            </a:extLst>
          </p:cNvPr>
          <p:cNvSpPr>
            <a:spLocks noGrp="1"/>
          </p:cNvSpPr>
          <p:nvPr>
            <p:ph type="title"/>
          </p:nvPr>
        </p:nvSpPr>
        <p:spPr>
          <a:xfrm>
            <a:off x="9720" y="-8640"/>
            <a:ext cx="12174480" cy="1065600"/>
          </a:xfrm>
          <a:prstGeom prst="rect">
            <a:avLst/>
          </a:prstGeom>
          <a:noFill/>
          <a:ln w="0">
            <a:noFill/>
          </a:ln>
        </p:spPr>
        <p:txBody>
          <a:bodyPr lIns="90000" tIns="45000" rIns="90000" bIns="45000" anchor="ctr">
            <a:normAutofit/>
          </a:bodyPr>
          <a:lstStyle/>
          <a:p>
            <a:pPr algn="ctr">
              <a:lnSpc>
                <a:spcPct val="90000"/>
              </a:lnSpc>
              <a:buNone/>
            </a:pPr>
            <a:r>
              <a:rPr lang="en-US" sz="4800" spc="-1" dirty="0">
                <a:solidFill>
                  <a:srgbClr val="000000"/>
                </a:solidFill>
                <a:latin typeface="Aptos Display"/>
              </a:rPr>
              <a:t>Objective</a:t>
            </a:r>
            <a:endParaRPr lang="en-US" sz="4800" b="0" strike="noStrike" spc="-1" dirty="0">
              <a:latin typeface="Arial"/>
            </a:endParaRPr>
          </a:p>
        </p:txBody>
      </p:sp>
      <p:sp>
        <p:nvSpPr>
          <p:cNvPr id="4" name="PlaceHolder 3">
            <a:extLst>
              <a:ext uri="{FF2B5EF4-FFF2-40B4-BE49-F238E27FC236}">
                <a16:creationId xmlns:a16="http://schemas.microsoft.com/office/drawing/2014/main" id="{9813F170-A253-3F78-21C5-50257B5063AF}"/>
              </a:ext>
            </a:extLst>
          </p:cNvPr>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17E7B7-BCF8-4704-9E3D-2FA3729F2199}" type="slidenum">
              <a:rPr kumimoji="0" lang="en-US" sz="1200" b="0" i="0" u="none" strike="noStrike" kern="1200" cap="none" spc="-1" normalizeH="0" baseline="0" noProof="0">
                <a:ln>
                  <a:noFill/>
                </a:ln>
                <a:solidFill>
                  <a:srgbClr val="787878"/>
                </a:solidFill>
                <a:effectLst/>
                <a:uLnTx/>
                <a:uFillTx/>
                <a:latin typeface="Apto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1" normalizeH="0" baseline="0" noProof="0">
              <a:ln>
                <a:noFill/>
              </a:ln>
              <a:solidFill>
                <a:srgbClr val="787878"/>
              </a:solidFill>
              <a:effectLst/>
              <a:uLnTx/>
              <a:uFillTx/>
              <a:latin typeface="Aptos"/>
            </a:endParaRPr>
          </a:p>
        </p:txBody>
      </p:sp>
      <p:sp>
        <p:nvSpPr>
          <p:cNvPr id="5" name="TextBox 4">
            <a:extLst>
              <a:ext uri="{FF2B5EF4-FFF2-40B4-BE49-F238E27FC236}">
                <a16:creationId xmlns:a16="http://schemas.microsoft.com/office/drawing/2014/main" id="{985D9CD8-541D-062B-AF04-B332979A3369}"/>
              </a:ext>
            </a:extLst>
          </p:cNvPr>
          <p:cNvSpPr txBox="1"/>
          <p:nvPr/>
        </p:nvSpPr>
        <p:spPr>
          <a:xfrm>
            <a:off x="850232" y="898358"/>
            <a:ext cx="10502368" cy="5171737"/>
          </a:xfrm>
          <a:prstGeom prst="rect">
            <a:avLst/>
          </a:prstGeom>
          <a:noFill/>
        </p:spPr>
        <p:txBody>
          <a:bodyPr wrap="square" rtlCol="0">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sz="3200" dirty="0">
                <a:solidFill>
                  <a:prstClr val="black"/>
                </a:solidFill>
                <a:latin typeface="Arial"/>
              </a:rPr>
              <a:t>We want to design and develop an interactive BI dashboard that helps humanitarian organizations, NGOs, and government bodies analyze displacement trends, monitor crisis hotspots, and optimize resource allocation in response to conflicts and natural disasters in Cameroon.</a:t>
            </a:r>
            <a:endParaRPr kumimoji="0" lang="en-US" sz="3200" b="0" i="0" u="none" strike="noStrike" kern="1200" cap="none" spc="0" normalizeH="0" baseline="0" noProof="0" dirty="0">
              <a:ln>
                <a:noFill/>
              </a:ln>
              <a:solidFill>
                <a:prstClr val="black"/>
              </a:solidFill>
              <a:effectLst/>
              <a:uLnTx/>
              <a:uFillTx/>
              <a:latin typeface="Arial"/>
            </a:endParaRPr>
          </a:p>
          <a:p>
            <a:pPr marL="0" marR="0" lvl="0" indent="0" algn="just" defTabSz="914400" rtl="0" eaLnBrk="1" fontAlgn="auto" latinLnBrk="0" hangingPunct="1">
              <a:lnSpc>
                <a:spcPct val="150000"/>
              </a:lnSpc>
              <a:spcBef>
                <a:spcPts val="0"/>
              </a:spcBef>
              <a:spcAft>
                <a:spcPts val="0"/>
              </a:spcAft>
              <a:buClrTx/>
              <a:buSzTx/>
              <a:buFontTx/>
              <a:buNone/>
              <a:tabLst/>
              <a:defRPr/>
            </a:pPr>
            <a:endParaRPr kumimoji="0" lang="en-CM" sz="3200" b="0" i="0" u="none" strike="noStrike" kern="1200" cap="none" spc="0" normalizeH="0" baseline="0" noProof="0" dirty="0">
              <a:ln>
                <a:noFill/>
              </a:ln>
              <a:solidFill>
                <a:prstClr val="black"/>
              </a:solidFill>
              <a:effectLst/>
              <a:uLnTx/>
              <a:uFillTx/>
              <a:latin typeface="Arial"/>
            </a:endParaRPr>
          </a:p>
        </p:txBody>
      </p:sp>
    </p:spTree>
    <p:extLst>
      <p:ext uri="{BB962C8B-B14F-4D97-AF65-F5344CB8AC3E}">
        <p14:creationId xmlns:p14="http://schemas.microsoft.com/office/powerpoint/2010/main" val="3311680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54A1-AD0C-3E0F-4DB2-03F568F31536}"/>
            </a:ext>
          </a:extLst>
        </p:cNvPr>
        <p:cNvGrpSpPr/>
        <p:nvPr/>
      </p:nvGrpSpPr>
      <p:grpSpPr>
        <a:xfrm>
          <a:off x="0" y="0"/>
          <a:ext cx="0" cy="0"/>
          <a:chOff x="0" y="0"/>
          <a:chExt cx="0" cy="0"/>
        </a:xfrm>
      </p:grpSpPr>
      <p:sp>
        <p:nvSpPr>
          <p:cNvPr id="96" name="PlaceHolder 1">
            <a:extLst>
              <a:ext uri="{FF2B5EF4-FFF2-40B4-BE49-F238E27FC236}">
                <a16:creationId xmlns:a16="http://schemas.microsoft.com/office/drawing/2014/main" id="{7092D8A2-3E69-71E0-231B-020C12622C1E}"/>
              </a:ext>
            </a:extLst>
          </p:cNvPr>
          <p:cNvSpPr>
            <a:spLocks noGrp="1"/>
          </p:cNvSpPr>
          <p:nvPr>
            <p:ph type="title"/>
          </p:nvPr>
        </p:nvSpPr>
        <p:spPr>
          <a:xfrm>
            <a:off x="179389" y="137520"/>
            <a:ext cx="12012611" cy="564444"/>
          </a:xfrm>
          <a:prstGeom prst="rect">
            <a:avLst/>
          </a:prstGeom>
          <a:noFill/>
          <a:ln w="0">
            <a:noFill/>
          </a:ln>
        </p:spPr>
        <p:txBody>
          <a:bodyPr lIns="90000" tIns="45000" rIns="90000" bIns="45000" anchor="ctr">
            <a:noAutofit/>
          </a:bodyPr>
          <a:lstStyle/>
          <a:p>
            <a:pPr algn="ctr">
              <a:lnSpc>
                <a:spcPct val="90000"/>
              </a:lnSpc>
              <a:buNone/>
            </a:pPr>
            <a:r>
              <a:rPr lang="en-US" sz="4800" b="0" strike="noStrike" spc="-1" dirty="0">
                <a:latin typeface="Arial"/>
              </a:rPr>
              <a:t>Technical requirements</a:t>
            </a:r>
          </a:p>
        </p:txBody>
      </p:sp>
      <p:sp>
        <p:nvSpPr>
          <p:cNvPr id="4" name="PlaceHolder 3">
            <a:extLst>
              <a:ext uri="{FF2B5EF4-FFF2-40B4-BE49-F238E27FC236}">
                <a16:creationId xmlns:a16="http://schemas.microsoft.com/office/drawing/2014/main" id="{D7391838-3304-4231-4F42-433EB759607E}"/>
              </a:ext>
            </a:extLst>
          </p:cNvPr>
          <p:cNvSpPr>
            <a:spLocks noGrp="1"/>
          </p:cNvSpPr>
          <p:nvPr>
            <p:ph type="sldNum" idx="5"/>
          </p:nvPr>
        </p:nvSpPr>
        <p:spPr/>
        <p:txBody>
          <a:bodyPr/>
          <a:lstStyle/>
          <a:p>
            <a:fld id="{2B17E7B7-BCF8-4704-9E3D-2FA3729F2199}" type="slidenum">
              <a:rPr/>
              <a:t>4</a:t>
            </a:fld>
            <a:endParaRPr/>
          </a:p>
        </p:txBody>
      </p:sp>
      <p:sp>
        <p:nvSpPr>
          <p:cNvPr id="5" name="TextBox 4">
            <a:extLst>
              <a:ext uri="{FF2B5EF4-FFF2-40B4-BE49-F238E27FC236}">
                <a16:creationId xmlns:a16="http://schemas.microsoft.com/office/drawing/2014/main" id="{F68C9A4D-1CF7-0EC7-011D-653CFBC60203}"/>
              </a:ext>
            </a:extLst>
          </p:cNvPr>
          <p:cNvSpPr txBox="1"/>
          <p:nvPr/>
        </p:nvSpPr>
        <p:spPr>
          <a:xfrm>
            <a:off x="277994" y="1450979"/>
            <a:ext cx="11636011" cy="3694409"/>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3200" dirty="0"/>
              <a:t>Perform data preparation, clean text in columns with concatenated names and null values</a:t>
            </a:r>
          </a:p>
          <a:p>
            <a:pPr marL="457200" indent="-457200">
              <a:lnSpc>
                <a:spcPct val="150000"/>
              </a:lnSpc>
              <a:buFont typeface="Arial" panose="020B0604020202020204" pitchFamily="34" charset="0"/>
              <a:buChar char="•"/>
            </a:pPr>
            <a:r>
              <a:rPr lang="en-US" sz="3200" dirty="0"/>
              <a:t>Propose and implement a suitable data model for your data</a:t>
            </a:r>
          </a:p>
          <a:p>
            <a:pPr marL="457200" indent="-457200">
              <a:lnSpc>
                <a:spcPct val="150000"/>
              </a:lnSpc>
              <a:buFont typeface="Arial" panose="020B0604020202020204" pitchFamily="34" charset="0"/>
              <a:buChar char="•"/>
            </a:pPr>
            <a:r>
              <a:rPr lang="en-US" sz="3200" dirty="0"/>
              <a:t>Analyze the data and use visuals to present and interpret the results</a:t>
            </a:r>
          </a:p>
        </p:txBody>
      </p:sp>
      <p:sp>
        <p:nvSpPr>
          <p:cNvPr id="2" name="TextBox 1">
            <a:extLst>
              <a:ext uri="{FF2B5EF4-FFF2-40B4-BE49-F238E27FC236}">
                <a16:creationId xmlns:a16="http://schemas.microsoft.com/office/drawing/2014/main" id="{095A177A-B015-ABCF-A706-1A6D76543717}"/>
              </a:ext>
            </a:extLst>
          </p:cNvPr>
          <p:cNvSpPr txBox="1"/>
          <p:nvPr/>
        </p:nvSpPr>
        <p:spPr>
          <a:xfrm>
            <a:off x="277994" y="741976"/>
            <a:ext cx="5375563" cy="584775"/>
          </a:xfrm>
          <a:prstGeom prst="rect">
            <a:avLst/>
          </a:prstGeom>
          <a:noFill/>
        </p:spPr>
        <p:txBody>
          <a:bodyPr wrap="square" rtlCol="0">
            <a:spAutoFit/>
          </a:bodyPr>
          <a:lstStyle/>
          <a:p>
            <a:r>
              <a:rPr lang="en-US" sz="3200" spc="-1" dirty="0"/>
              <a:t>We therefore want you to :</a:t>
            </a:r>
            <a:endParaRPr lang="en-CM" sz="3200" dirty="0"/>
          </a:p>
        </p:txBody>
      </p:sp>
    </p:spTree>
    <p:extLst>
      <p:ext uri="{BB962C8B-B14F-4D97-AF65-F5344CB8AC3E}">
        <p14:creationId xmlns:p14="http://schemas.microsoft.com/office/powerpoint/2010/main" val="2533805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7669-CFB0-AEC4-65FC-64D8845742AB}"/>
              </a:ext>
            </a:extLst>
          </p:cNvPr>
          <p:cNvSpPr>
            <a:spLocks noGrp="1"/>
          </p:cNvSpPr>
          <p:nvPr>
            <p:ph type="title"/>
          </p:nvPr>
        </p:nvSpPr>
        <p:spPr>
          <a:xfrm>
            <a:off x="838200" y="2478768"/>
            <a:ext cx="10515600" cy="1906134"/>
          </a:xfrm>
        </p:spPr>
        <p:txBody>
          <a:bodyPr>
            <a:normAutofit/>
          </a:bodyPr>
          <a:lstStyle/>
          <a:p>
            <a:pPr algn="ctr"/>
            <a:r>
              <a:rPr lang="en-US" sz="5400" b="1" dirty="0"/>
              <a:t>Resources</a:t>
            </a:r>
            <a:endParaRPr lang="en-US" dirty="0"/>
          </a:p>
        </p:txBody>
      </p:sp>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p:txBody>
          <a:bodyPr/>
          <a:lstStyle/>
          <a:p>
            <a:r>
              <a:rPr lang="en-US"/>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5</a:t>
            </a:fld>
            <a:endParaRPr lang="en-US"/>
          </a:p>
        </p:txBody>
      </p:sp>
    </p:spTree>
    <p:extLst>
      <p:ext uri="{BB962C8B-B14F-4D97-AF65-F5344CB8AC3E}">
        <p14:creationId xmlns:p14="http://schemas.microsoft.com/office/powerpoint/2010/main" val="1634018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a:xfrm>
            <a:off x="709386" y="6356350"/>
            <a:ext cx="5112657" cy="365125"/>
          </a:xfrm>
        </p:spPr>
        <p:txBody>
          <a:bodyPr/>
          <a:lstStyle/>
          <a:p>
            <a:r>
              <a:rPr lang="en-US">
                <a:solidFill>
                  <a:srgbClr val="FA884B"/>
                </a:solidFill>
              </a:rPr>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7" name="TextBox 6">
            <a:extLst>
              <a:ext uri="{FF2B5EF4-FFF2-40B4-BE49-F238E27FC236}">
                <a16:creationId xmlns:a16="http://schemas.microsoft.com/office/drawing/2014/main" id="{F176FFB8-B857-45A3-48EA-7BDD35C3B46B}"/>
              </a:ext>
            </a:extLst>
          </p:cNvPr>
          <p:cNvSpPr txBox="1"/>
          <p:nvPr/>
        </p:nvSpPr>
        <p:spPr>
          <a:xfrm>
            <a:off x="856848" y="2113948"/>
            <a:ext cx="10847760" cy="13228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800" dirty="0"/>
              <a:t>The dataset is available at : </a:t>
            </a:r>
            <a:r>
              <a:rPr lang="en-CM" sz="2800">
                <a:hlinkClick r:id="rId2"/>
              </a:rPr>
              <a:t>Cameroon - Internal Displacements Updates (IDU) | Humanitarian Dataset | HDX</a:t>
            </a:r>
            <a:endParaRPr lang="en-US" sz="2800" dirty="0">
              <a:solidFill>
                <a:schemeClr val="accent2">
                  <a:lumMod val="75000"/>
                </a:schemeClr>
              </a:solidFill>
            </a:endParaRPr>
          </a:p>
        </p:txBody>
      </p:sp>
    </p:spTree>
    <p:extLst>
      <p:ext uri="{BB962C8B-B14F-4D97-AF65-F5344CB8AC3E}">
        <p14:creationId xmlns:p14="http://schemas.microsoft.com/office/powerpoint/2010/main" val="620602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7669-CFB0-AEC4-65FC-64D8845742AB}"/>
              </a:ext>
            </a:extLst>
          </p:cNvPr>
          <p:cNvSpPr>
            <a:spLocks noGrp="1"/>
          </p:cNvSpPr>
          <p:nvPr>
            <p:ph type="title"/>
          </p:nvPr>
        </p:nvSpPr>
        <p:spPr>
          <a:xfrm>
            <a:off x="838200" y="2478768"/>
            <a:ext cx="10515600" cy="1906134"/>
          </a:xfrm>
        </p:spPr>
        <p:txBody>
          <a:bodyPr>
            <a:normAutofit/>
          </a:bodyPr>
          <a:lstStyle/>
          <a:p>
            <a:pPr algn="ctr"/>
            <a:r>
              <a:rPr lang="en-US" sz="5400" b="1"/>
              <a:t>GOOD LUCK</a:t>
            </a:r>
          </a:p>
        </p:txBody>
      </p:sp>
      <p:sp>
        <p:nvSpPr>
          <p:cNvPr id="4" name="Footer Placeholder 3">
            <a:extLst>
              <a:ext uri="{FF2B5EF4-FFF2-40B4-BE49-F238E27FC236}">
                <a16:creationId xmlns:a16="http://schemas.microsoft.com/office/drawing/2014/main" id="{56276AFE-640E-7E3E-00E0-1304A1D7E4FE}"/>
              </a:ext>
            </a:extLst>
          </p:cNvPr>
          <p:cNvSpPr>
            <a:spLocks noGrp="1"/>
          </p:cNvSpPr>
          <p:nvPr>
            <p:ph type="ftr" sz="quarter" idx="11"/>
          </p:nvPr>
        </p:nvSpPr>
        <p:spPr/>
        <p:txBody>
          <a:bodyPr/>
          <a:lstStyle/>
          <a:p>
            <a:r>
              <a:rPr lang="en-US"/>
              <a:t>Data Integration and Warehousing Assessment - FOUOTSOP FOSSO  PATRICK</a:t>
            </a:r>
          </a:p>
        </p:txBody>
      </p:sp>
      <p:sp>
        <p:nvSpPr>
          <p:cNvPr id="5" name="Slide Number Placeholder 4">
            <a:extLst>
              <a:ext uri="{FF2B5EF4-FFF2-40B4-BE49-F238E27FC236}">
                <a16:creationId xmlns:a16="http://schemas.microsoft.com/office/drawing/2014/main" id="{9B0DA528-11FB-1935-A6A7-41A0F4E212A0}"/>
              </a:ext>
            </a:extLst>
          </p:cNvPr>
          <p:cNvSpPr>
            <a:spLocks noGrp="1"/>
          </p:cNvSpPr>
          <p:nvPr>
            <p:ph type="sldNum" sz="quarter" idx="12"/>
          </p:nvPr>
        </p:nvSpPr>
        <p:spPr/>
        <p:txBody>
          <a:bodyPr/>
          <a:lstStyle/>
          <a:p>
            <a:fld id="{330EA680-D336-4FF7-8B7A-9848BB0A1C32}" type="slidenum">
              <a:rPr lang="en-US" smtClean="0"/>
              <a:t>7</a:t>
            </a:fld>
            <a:endParaRPr lang="en-US"/>
          </a:p>
        </p:txBody>
      </p:sp>
    </p:spTree>
    <p:extLst>
      <p:ext uri="{BB962C8B-B14F-4D97-AF65-F5344CB8AC3E}">
        <p14:creationId xmlns:p14="http://schemas.microsoft.com/office/powerpoint/2010/main" val="848267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88</TotalTime>
  <Words>279</Words>
  <Application>Microsoft Office PowerPoint</Application>
  <PresentationFormat>Widescreen</PresentationFormat>
  <Paragraphs>26</Paragraphs>
  <Slides>7</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vt:i4>
      </vt:variant>
    </vt:vector>
  </HeadingPairs>
  <TitlesOfParts>
    <vt:vector size="15" baseType="lpstr">
      <vt:lpstr>Aptos</vt:lpstr>
      <vt:lpstr>Aptos Display</vt:lpstr>
      <vt:lpstr>Arial</vt:lpstr>
      <vt:lpstr>Symbol</vt:lpstr>
      <vt:lpstr>Times New Roman</vt:lpstr>
      <vt:lpstr>Wingdings</vt:lpstr>
      <vt:lpstr>office theme</vt:lpstr>
      <vt:lpstr>1_Office Theme</vt:lpstr>
      <vt:lpstr>A BI approach to understand humaniterian crisis and displacement: Case Study of the Cameroon IDU dataset</vt:lpstr>
      <vt:lpstr>Context</vt:lpstr>
      <vt:lpstr>Objective</vt:lpstr>
      <vt:lpstr>Technical requirements</vt:lpstr>
      <vt:lpstr>Resources</vt:lpstr>
      <vt:lpstr>PowerPoint Presentation</vt:lpstr>
      <vt:lpstr>GOOD LUCK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patrick fouotsop fosso</dc:creator>
  <cp:lastModifiedBy>patrick fouotsop fosso</cp:lastModifiedBy>
  <cp:revision>846</cp:revision>
  <dcterms:created xsi:type="dcterms:W3CDTF">2024-10-03T00:17:11Z</dcterms:created>
  <dcterms:modified xsi:type="dcterms:W3CDTF">2026-06-09T15:08:53Z</dcterms:modified>
</cp:coreProperties>
</file>