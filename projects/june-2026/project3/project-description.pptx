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sldIdLst>
    <p:sldId id="256" r:id="rId3"/>
    <p:sldId id="304" r:id="rId4"/>
    <p:sldId id="316" r:id="rId5"/>
    <p:sldId id="293" r:id="rId6"/>
    <p:sldId id="301" r:id="rId7"/>
    <p:sldId id="322" r:id="rId8"/>
    <p:sldId id="325" r:id="rId9"/>
    <p:sldId id="3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84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51B6025-BD3B-4F60-AF55-76D0435C51F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944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5C7FD21-836B-4760-A11D-B28FF9B72D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617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0E6805A-8396-428A-9203-86686067FE4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044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E4F24B-127C-48E9-AAA3-ED557BC532C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72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EFC5F7B-12A7-4BA5-B4E8-F47CBBAF0B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4943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9F3D515-A1CB-4F07-9A8F-3CF07ABE912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018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7F5E1F-E6F2-4519-9C0D-859178309B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6122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FE1D29-1024-45E0-8931-1DAD8470904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8289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02649C-5B75-41B5-BD1E-5AC71FA0A1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369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15F05F0-2147-4F08-985C-E0953BEB73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507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E42845-E3F6-4228-A5C3-03E7C188788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741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267413E-0343-454F-995C-BFA91137224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29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ASSESSMENT TO DATA ANALYSIS AND BI - FOUOTSOP FOSSO PATRICK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6160D7-307F-4F3F-B76A-B85A78C1BE73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98291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patrickfosso4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-explorer.oecd.org/vis?lc=en&amp;fs%5b0%5d=Topic%2C1%7CTaxation%23TAX%23%7CGlobal%20tax%20revenues%23TAX_GTR%23&amp;pg=20&amp;fc=Topic&amp;bp=true&amp;snb=161&amp;df%5bds%5d=dsDisseminateFinalDMZ&amp;df%5bid%5d=DSD_REV_AFRICA%40DF_REVCMR&amp;df%5bag%5d=OECD.CTP.TPS&amp;df%5bvs%5d=2.0&amp;dq=.TAX_REV%2BNONTAX_REV%2BTAX_NONTAX_REV.S1311%2BS1312%2BS1313%2BS1314%2BS13.T_TAX_NONTAX%2BT_NONTAX%2B_T...A&amp;to%5bTIME_PERIOD%5d=false&amp;pd=1993%2C2024&amp;isAvailabilityDisabled=fal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38" y="960699"/>
            <a:ext cx="12057099" cy="2114225"/>
          </a:xfrm>
        </p:spPr>
        <p:txBody>
          <a:bodyPr>
            <a:noAutofit/>
          </a:bodyPr>
          <a:lstStyle/>
          <a:p>
            <a:r>
              <a:rPr lang="en-US" sz="4800" dirty="0"/>
              <a:t>Proposing  Strategies to Optimize</a:t>
            </a:r>
            <a:r>
              <a:rPr lang="en-CM" sz="4800" dirty="0"/>
              <a:t> Cameroon’s Public Revenue Structure through Data‑Driven Fiscal Management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0028"/>
            <a:ext cx="9144000" cy="5487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June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73E03-8FA4-0A4B-F2A9-5D73EE466237}"/>
              </a:ext>
            </a:extLst>
          </p:cNvPr>
          <p:cNvSpPr txBox="1"/>
          <p:nvPr/>
        </p:nvSpPr>
        <p:spPr>
          <a:xfrm>
            <a:off x="1949402" y="4516851"/>
            <a:ext cx="863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FOUOTSOP FOSSO PATRICK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96787-66B2-11A1-4ADF-7672C484719D}"/>
              </a:ext>
            </a:extLst>
          </p:cNvPr>
          <p:cNvSpPr txBox="1"/>
          <p:nvPr/>
        </p:nvSpPr>
        <p:spPr>
          <a:xfrm>
            <a:off x="1977192" y="5150815"/>
            <a:ext cx="8569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A884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patrickfosso49@gmail.com</a:t>
            </a:r>
            <a:endParaRPr lang="en-US" dirty="0">
              <a:solidFill>
                <a:srgbClr val="FA884B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893B-9318-FBA8-A014-301B0F4D8CEA}"/>
              </a:ext>
            </a:extLst>
          </p:cNvPr>
          <p:cNvSpPr/>
          <p:nvPr/>
        </p:nvSpPr>
        <p:spPr>
          <a:xfrm>
            <a:off x="1979048" y="1815"/>
            <a:ext cx="10213959" cy="624129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DA15B-C03D-6017-A008-D5B9B4E6D70E}"/>
              </a:ext>
            </a:extLst>
          </p:cNvPr>
          <p:cNvSpPr/>
          <p:nvPr/>
        </p:nvSpPr>
        <p:spPr>
          <a:xfrm>
            <a:off x="0" y="6254151"/>
            <a:ext cx="12191999" cy="603848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1E55C7C4-E2FD-BF9B-CF72-D1DE2022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" t="-323" r="-528" b="-1762"/>
          <a:stretch/>
        </p:blipFill>
        <p:spPr>
          <a:xfrm>
            <a:off x="74555" y="6719"/>
            <a:ext cx="1906695" cy="6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EF5-AB7F-C7B5-091D-16A7F778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307CBE59-F601-9226-915D-25D63204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 dirty="0">
                <a:solidFill>
                  <a:srgbClr val="000000"/>
                </a:solidFill>
                <a:latin typeface="Aptos Display"/>
              </a:rPr>
              <a:t>Objective</a:t>
            </a:r>
            <a:endParaRPr lang="en-US" sz="4800" b="0" strike="noStrike" spc="-1" dirty="0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B49D2D7-09AF-4902-32D6-6C1E47748D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17E7B7-BCF8-4704-9E3D-2FA3729F219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787878"/>
                </a:solidFill>
                <a:effectLst/>
                <a:uLnTx/>
                <a:uFillTx/>
                <a:latin typeface="Apto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787878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51FC-9882-5456-D599-4CD5AD1872D2}"/>
              </a:ext>
            </a:extLst>
          </p:cNvPr>
          <p:cNvSpPr txBox="1"/>
          <p:nvPr/>
        </p:nvSpPr>
        <p:spPr>
          <a:xfrm>
            <a:off x="741948" y="947599"/>
            <a:ext cx="10976810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Students will analyze Cameroon’s tax revenue composition (1993 – 2024) to :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Identify trends and imbalances among revenue categories (VAT, income tax, social security, trade taxes, etc.).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</a:rPr>
              <a:t>Evaluate revenue performance and dependency on specific tax sources.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</a:rPr>
              <a:t>Propose management strategies to improve fiscal sustainability, equity, and efficiency.</a:t>
            </a:r>
            <a:endParaRPr lang="en-CM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26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Description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7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F166-F35B-5E14-205C-9E562103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B8AC92DA-9877-D6C1-2858-B52C68C7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 dirty="0">
                <a:solidFill>
                  <a:srgbClr val="000000"/>
                </a:solidFill>
                <a:latin typeface="Aptos Display"/>
              </a:rPr>
              <a:t>Data description</a:t>
            </a:r>
            <a:endParaRPr lang="en-US" sz="4800" b="0" strike="noStrike" spc="-1" dirty="0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813F170-A253-3F78-21C5-50257B5063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17E7B7-BCF8-4704-9E3D-2FA3729F219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787878"/>
                </a:solidFill>
                <a:effectLst/>
                <a:uLnTx/>
                <a:uFillTx/>
                <a:latin typeface="Apto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787878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D9CD8-541D-062B-AF04-B332979A3369}"/>
              </a:ext>
            </a:extLst>
          </p:cNvPr>
          <p:cNvSpPr txBox="1"/>
          <p:nvPr/>
        </p:nvSpPr>
        <p:spPr>
          <a:xfrm>
            <a:off x="850232" y="898358"/>
            <a:ext cx="10502368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/>
              </a:rPr>
              <a:t>The data presents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data on tax and non-tax revenues for Cameroon as shown in Revenue Statistics in Africa. Revenue data are classified according to the OECD classification of taxes and shown in national currency and US dollars.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M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168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54A1-AD0C-3E0F-4DB2-03F568F3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7092D8A2-3E69-71E0-231B-020C126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9" y="137520"/>
            <a:ext cx="12012611" cy="56444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b="0" strike="noStrike" spc="-1" dirty="0">
                <a:latin typeface="Arial"/>
              </a:rPr>
              <a:t>Technical requirements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7391838-3304-4231-4F42-433EB75960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C9A4D-1CF7-0EC7-011D-653CFBC60203}"/>
              </a:ext>
            </a:extLst>
          </p:cNvPr>
          <p:cNvSpPr txBox="1"/>
          <p:nvPr/>
        </p:nvSpPr>
        <p:spPr>
          <a:xfrm>
            <a:off x="277994" y="1450979"/>
            <a:ext cx="11636011" cy="443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 data preparation, clean the data and manage any inconsistencies and missing values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Propose and implement star schema data warehouse model for your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Analyze the data and use visuals to present and interpret the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A177A-B015-ABCF-A706-1A6D76543717}"/>
              </a:ext>
            </a:extLst>
          </p:cNvPr>
          <p:cNvSpPr txBox="1"/>
          <p:nvPr/>
        </p:nvSpPr>
        <p:spPr>
          <a:xfrm>
            <a:off x="277994" y="741976"/>
            <a:ext cx="5375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-1" dirty="0"/>
              <a:t>We therefore want you to :</a:t>
            </a:r>
            <a:endParaRPr lang="en-CM" sz="3200" dirty="0"/>
          </a:p>
        </p:txBody>
      </p:sp>
    </p:spTree>
    <p:extLst>
      <p:ext uri="{BB962C8B-B14F-4D97-AF65-F5344CB8AC3E}">
        <p14:creationId xmlns:p14="http://schemas.microsoft.com/office/powerpoint/2010/main" val="253380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Resources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1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9386" y="6356350"/>
            <a:ext cx="5112657" cy="365125"/>
          </a:xfrm>
        </p:spPr>
        <p:txBody>
          <a:bodyPr/>
          <a:lstStyle/>
          <a:p>
            <a:r>
              <a:rPr lang="en-US">
                <a:solidFill>
                  <a:srgbClr val="FA884B"/>
                </a:solidFill>
              </a:rPr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6FFB8-B857-45A3-48EA-7BDD35C3B46B}"/>
              </a:ext>
            </a:extLst>
          </p:cNvPr>
          <p:cNvSpPr txBox="1"/>
          <p:nvPr/>
        </p:nvSpPr>
        <p:spPr>
          <a:xfrm>
            <a:off x="856848" y="2113948"/>
            <a:ext cx="10847760" cy="1322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dataset is available at : </a:t>
            </a:r>
            <a:r>
              <a:rPr lang="en-CM" sz="2800" dirty="0">
                <a:hlinkClick r:id="rId2"/>
              </a:rPr>
              <a:t>OECD Data Explorer • Cameroon - tax and non-tax revenues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0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GOOD LUCK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6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232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1_Office Theme</vt:lpstr>
      <vt:lpstr>Proposing  Strategies to Optimize Cameroon’s Public Revenue Structure through Data‑Driven Fiscal Management</vt:lpstr>
      <vt:lpstr>Objective</vt:lpstr>
      <vt:lpstr>Description</vt:lpstr>
      <vt:lpstr>Data description</vt:lpstr>
      <vt:lpstr>Technical requirements</vt:lpstr>
      <vt:lpstr>Resources</vt:lpstr>
      <vt:lpstr>PowerPoint Presentation</vt:lpstr>
      <vt:lpstr>GOOD LUCK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fouotsop fosso</dc:creator>
  <cp:lastModifiedBy>patrick fouotsop fosso</cp:lastModifiedBy>
  <cp:revision>845</cp:revision>
  <dcterms:created xsi:type="dcterms:W3CDTF">2024-10-03T00:17:11Z</dcterms:created>
  <dcterms:modified xsi:type="dcterms:W3CDTF">2026-06-09T14:51:50Z</dcterms:modified>
</cp:coreProperties>
</file>